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50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"Staff spend real time hunting for equipment. There's no automated system that says </a:t>
            </a:r>
            <a:r>
              <a:rPr lang="en-US" i="1" dirty="0"/>
              <a:t>where</a:t>
            </a:r>
            <a:r>
              <a:rPr lang="en-US" dirty="0"/>
              <a:t> something is inside a building."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"GPS fails indoors. BLE needs dense infrastructure. RFID is </a:t>
            </a:r>
            <a:r>
              <a:rPr lang="en-US" dirty="0" err="1"/>
              <a:t>centimetre</a:t>
            </a:r>
            <a:r>
              <a:rPr lang="en-US" dirty="0"/>
              <a:t>-range. Our LoRa approach hits the sweet spot: long indoor range, low power, low cost."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"The asset carries a tag. A fixed node hears it. The cloud stores it. The dashboard shows where it is — all automatically."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"We're presenting at the end of Week 1 — hardware is up, firmware works, pipeline is started. Three weeks remain for calibration, dashboard, and validation."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</a:rPr>
              <a:t>IoT PROJECT PITCH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Asset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System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LoRa + ESP32 + ThingsBoard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5029200" cy="1051560"/>
          </a:xfrm>
          <a:prstGeom prst="rect">
            <a:avLst/>
          </a:prstGeom>
          <a:solidFill>
            <a:srgbClr val="065A82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822192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Sandy George  ·  Marina Medhat  ·  Youssef Khalil  ·  Rubina Sameh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30,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2368296"/>
            <a:ext cx="640080" cy="384048"/>
          </a:xfrm>
          <a:prstGeom prst="ellipse">
            <a:avLst/>
          </a:prstGeom>
          <a:solidFill>
            <a:srgbClr val="FFFFFF">
              <a:alpha val="0"/>
            </a:srgbClr>
          </a:solidFill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93992" y="2137867"/>
            <a:ext cx="1408176" cy="844906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09944" y="1907438"/>
            <a:ext cx="2176272" cy="1305763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88352" y="2450592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CD87F-49C1-4BEE-8E47-8F0F79925B89}"/>
              </a:ext>
            </a:extLst>
          </p:cNvPr>
          <p:cNvSpPr txBox="1"/>
          <p:nvPr/>
        </p:nvSpPr>
        <p:spPr>
          <a:xfrm>
            <a:off x="457200" y="2540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800" b="1">
                <a:solidFill>
                  <a:srgbClr val="0A1628"/>
                </a:solidFill>
              </a:rPr>
              <a:t>TABLE OF 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81BB9-8D42-4C43-9BBE-A9A39231F387}"/>
              </a:ext>
            </a:extLst>
          </p:cNvPr>
          <p:cNvSpPr txBox="1"/>
          <p:nvPr/>
        </p:nvSpPr>
        <p:spPr>
          <a:xfrm>
            <a:off x="457200" y="596900"/>
            <a:ext cx="82296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Contents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FE2E2-692B-4155-8F4D-70109E5A7FE3}"/>
              </a:ext>
            </a:extLst>
          </p:cNvPr>
          <p:cNvSpPr/>
          <p:nvPr/>
        </p:nvSpPr>
        <p:spPr>
          <a:xfrm>
            <a:off x="457200" y="1333500"/>
            <a:ext cx="762000" cy="38100"/>
          </a:xfrm>
          <a:prstGeom prst="rect">
            <a:avLst/>
          </a:prstGeom>
          <a:solidFill>
            <a:srgbClr val="0A16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E9EF92-8EFB-4B31-A72A-6DD2F62CBDF8}"/>
              </a:ext>
            </a:extLst>
          </p:cNvPr>
          <p:cNvSpPr txBox="1"/>
          <p:nvPr/>
        </p:nvSpPr>
        <p:spPr>
          <a:xfrm>
            <a:off x="457200" y="1651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30B8B-136B-43B6-8B0E-1A21A495B1E8}"/>
              </a:ext>
            </a:extLst>
          </p:cNvPr>
          <p:cNvSpPr txBox="1"/>
          <p:nvPr/>
        </p:nvSpPr>
        <p:spPr>
          <a:xfrm>
            <a:off x="1168400" y="17018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Introduction &amp; 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55FCC-B03A-4EF7-8F06-8C9E25800C81}"/>
              </a:ext>
            </a:extLst>
          </p:cNvPr>
          <p:cNvSpPr/>
          <p:nvPr/>
        </p:nvSpPr>
        <p:spPr>
          <a:xfrm>
            <a:off x="457200" y="20574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67016B-0B8F-4A69-8A3C-5F58AC71C547}"/>
              </a:ext>
            </a:extLst>
          </p:cNvPr>
          <p:cNvSpPr txBox="1"/>
          <p:nvPr/>
        </p:nvSpPr>
        <p:spPr>
          <a:xfrm>
            <a:off x="457200" y="23622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248EF2-9DFC-420C-A339-F017A96D7D2F}"/>
              </a:ext>
            </a:extLst>
          </p:cNvPr>
          <p:cNvSpPr txBox="1"/>
          <p:nvPr/>
        </p:nvSpPr>
        <p:spPr>
          <a:xfrm>
            <a:off x="1168400" y="24130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Related Work &amp; Existing Limitations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ED80BB-725B-4C00-95F9-391803C50B7D}"/>
              </a:ext>
            </a:extLst>
          </p:cNvPr>
          <p:cNvSpPr/>
          <p:nvPr/>
        </p:nvSpPr>
        <p:spPr>
          <a:xfrm>
            <a:off x="457200" y="27686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C96D9-8C25-4397-8926-D5136D61FC1F}"/>
              </a:ext>
            </a:extLst>
          </p:cNvPr>
          <p:cNvSpPr txBox="1"/>
          <p:nvPr/>
        </p:nvSpPr>
        <p:spPr>
          <a:xfrm>
            <a:off x="457200" y="30734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EF039B-9630-4F96-AC34-DDF113CE2026}"/>
              </a:ext>
            </a:extLst>
          </p:cNvPr>
          <p:cNvSpPr txBox="1"/>
          <p:nvPr/>
        </p:nvSpPr>
        <p:spPr>
          <a:xfrm>
            <a:off x="1168400" y="31242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Proposed Solution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55A4DE-1A18-4D2C-843D-E94953A9F102}"/>
              </a:ext>
            </a:extLst>
          </p:cNvPr>
          <p:cNvSpPr/>
          <p:nvPr/>
        </p:nvSpPr>
        <p:spPr>
          <a:xfrm>
            <a:off x="457200" y="34798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A4EFE-6C52-47BC-8D1A-A9FCF49B4335}"/>
              </a:ext>
            </a:extLst>
          </p:cNvPr>
          <p:cNvSpPr txBox="1"/>
          <p:nvPr/>
        </p:nvSpPr>
        <p:spPr>
          <a:xfrm>
            <a:off x="457200" y="37846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D5A55F-20D4-4706-B2C3-3C4152072D74}"/>
              </a:ext>
            </a:extLst>
          </p:cNvPr>
          <p:cNvSpPr txBox="1"/>
          <p:nvPr/>
        </p:nvSpPr>
        <p:spPr>
          <a:xfrm>
            <a:off x="1168400" y="38354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 Architecture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911409-2DDB-478E-B1A2-23649E58B3A3}"/>
              </a:ext>
            </a:extLst>
          </p:cNvPr>
          <p:cNvSpPr/>
          <p:nvPr/>
        </p:nvSpPr>
        <p:spPr>
          <a:xfrm>
            <a:off x="457200" y="41910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F5A935-1A5B-4866-BB23-E5DB81050CFA}"/>
              </a:ext>
            </a:extLst>
          </p:cNvPr>
          <p:cNvSpPr txBox="1"/>
          <p:nvPr/>
        </p:nvSpPr>
        <p:spPr>
          <a:xfrm>
            <a:off x="4724400" y="16510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F4019E-A1B2-498B-82C7-86E6D2B632CF}"/>
              </a:ext>
            </a:extLst>
          </p:cNvPr>
          <p:cNvSpPr txBox="1"/>
          <p:nvPr/>
        </p:nvSpPr>
        <p:spPr>
          <a:xfrm>
            <a:off x="5435600" y="17018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Implementation Plan &amp; Timeline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C0EEF3-0273-4650-B02C-28263B15BE58}"/>
              </a:ext>
            </a:extLst>
          </p:cNvPr>
          <p:cNvSpPr/>
          <p:nvPr/>
        </p:nvSpPr>
        <p:spPr>
          <a:xfrm>
            <a:off x="4724400" y="20574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448DAE-C002-4AB2-9FE3-248638803F8F}"/>
              </a:ext>
            </a:extLst>
          </p:cNvPr>
          <p:cNvSpPr txBox="1"/>
          <p:nvPr/>
        </p:nvSpPr>
        <p:spPr>
          <a:xfrm>
            <a:off x="4724400" y="23622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3BFE78-0568-42F1-97EB-F9CCD2F298F5}"/>
              </a:ext>
            </a:extLst>
          </p:cNvPr>
          <p:cNvSpPr txBox="1"/>
          <p:nvPr/>
        </p:nvSpPr>
        <p:spPr>
          <a:xfrm>
            <a:off x="5435600" y="24130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Progress So Far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34F01E-6916-4AD5-B72F-C2E7A8FC7CA1}"/>
              </a:ext>
            </a:extLst>
          </p:cNvPr>
          <p:cNvSpPr/>
          <p:nvPr/>
        </p:nvSpPr>
        <p:spPr>
          <a:xfrm>
            <a:off x="4724400" y="27686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4AF411-5031-4E4F-A83C-3875326E921D}"/>
              </a:ext>
            </a:extLst>
          </p:cNvPr>
          <p:cNvSpPr txBox="1"/>
          <p:nvPr/>
        </p:nvSpPr>
        <p:spPr>
          <a:xfrm>
            <a:off x="4724400" y="3073400"/>
            <a:ext cx="63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A1628"/>
                </a:solidFill>
              </a:rPr>
              <a:t>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06787B-400E-4CFC-9080-BFA876760B1E}"/>
              </a:ext>
            </a:extLst>
          </p:cNvPr>
          <p:cNvSpPr txBox="1"/>
          <p:nvPr/>
        </p:nvSpPr>
        <p:spPr>
          <a:xfrm>
            <a:off x="5435600" y="3124200"/>
            <a:ext cx="281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Challenges &amp; Next Steps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465F63-D7B5-46C9-9DE7-9B5DDBB5D9D0}"/>
              </a:ext>
            </a:extLst>
          </p:cNvPr>
          <p:cNvSpPr/>
          <p:nvPr/>
        </p:nvSpPr>
        <p:spPr>
          <a:xfrm>
            <a:off x="4724400" y="3479800"/>
            <a:ext cx="3860800" cy="9525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5D2AE3-917B-496A-BD39-3B1636B7D436}"/>
              </a:ext>
            </a:extLst>
          </p:cNvPr>
          <p:cNvSpPr txBox="1"/>
          <p:nvPr/>
        </p:nvSpPr>
        <p:spPr>
          <a:xfrm>
            <a:off x="3860800" y="17526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3FCE53-B0B4-4947-9F81-8C59944DA6D6}"/>
              </a:ext>
            </a:extLst>
          </p:cNvPr>
          <p:cNvSpPr txBox="1"/>
          <p:nvPr/>
        </p:nvSpPr>
        <p:spPr>
          <a:xfrm>
            <a:off x="3860800" y="24638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760A30-7589-4166-AB0D-5CEC7B900527}"/>
              </a:ext>
            </a:extLst>
          </p:cNvPr>
          <p:cNvSpPr txBox="1"/>
          <p:nvPr/>
        </p:nvSpPr>
        <p:spPr>
          <a:xfrm>
            <a:off x="3860800" y="31750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88F66B-3F37-4B45-A26B-C8DE26FC0AEB}"/>
              </a:ext>
            </a:extLst>
          </p:cNvPr>
          <p:cNvSpPr txBox="1"/>
          <p:nvPr/>
        </p:nvSpPr>
        <p:spPr>
          <a:xfrm>
            <a:off x="3860800" y="38862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FDADE5-590D-416E-A7DA-B585B1915739}"/>
              </a:ext>
            </a:extLst>
          </p:cNvPr>
          <p:cNvSpPr txBox="1"/>
          <p:nvPr/>
        </p:nvSpPr>
        <p:spPr>
          <a:xfrm>
            <a:off x="8128000" y="17526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51E7B9-3183-4DAB-9714-16735B87B8CD}"/>
              </a:ext>
            </a:extLst>
          </p:cNvPr>
          <p:cNvSpPr txBox="1"/>
          <p:nvPr/>
        </p:nvSpPr>
        <p:spPr>
          <a:xfrm>
            <a:off x="8128000" y="24638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77F392-F535-4F48-99DE-C68B553F1C64}"/>
              </a:ext>
            </a:extLst>
          </p:cNvPr>
          <p:cNvSpPr txBox="1"/>
          <p:nvPr/>
        </p:nvSpPr>
        <p:spPr>
          <a:xfrm>
            <a:off x="8128000" y="3175000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p. 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A67D65-2C6C-4EAC-A1C3-8E9ED9CE1F3F}"/>
              </a:ext>
            </a:extLst>
          </p:cNvPr>
          <p:cNvSpPr txBox="1"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900">
                <a:solidFill>
                  <a:srgbClr val="64748B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2554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01 · 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64008" cy="33832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In universities, hospitals, offices and labs, important assets are frequently misplaced or take too long to locate.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>
              <a:buNone/>
            </a:pPr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This causes:</a:t>
            </a:r>
          </a:p>
          <a:p>
            <a:pPr>
              <a:buSzPct val="100000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Wasted time searching for devices &amp; tools</a:t>
            </a:r>
          </a:p>
          <a:p>
            <a:pPr>
              <a:buSzPct val="100000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Lower operational efficiency</a:t>
            </a:r>
          </a:p>
          <a:p>
            <a:pPr>
              <a:buSzPct val="100000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Interruptions in daily workflows</a:t>
            </a:r>
          </a:p>
          <a:p>
            <a:pPr>
              <a:buSzPct val="100000"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No automated visibility of asset locations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19202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Who is affected?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Lab supervisors, nurses, office employees,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technicians &amp; facility managers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Current gap:</a:t>
            </a:r>
            <a:endParaRPr lang="en-US" sz="1600" dirty="0">
              <a:solidFill>
                <a:srgbClr val="002060"/>
              </a:solidFill>
            </a:endParaRPr>
          </a:p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No IoT-native indoor tracking solution</a:t>
            </a:r>
          </a:p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that is low-power, low-cost, and works</a:t>
            </a:r>
          </a:p>
          <a:p>
            <a:r>
              <a:rPr lang="en-US" sz="1500" dirty="0">
                <a:solidFill>
                  <a:schemeClr val="tx1">
                    <a:lumMod val="95000"/>
                    <a:lumOff val="5000"/>
                  </a:schemeClr>
                </a:solidFill>
                <a:ea typeface="Calibri" pitchFamily="34" charset="-122"/>
                <a:cs typeface="Calibri" pitchFamily="34" charset="-120"/>
              </a:rPr>
              <a:t>without GPS or complex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97186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02 · RELATED WORK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Existing Limitations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286000" cy="530352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GPS Tracking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34640" y="1234440"/>
            <a:ext cx="5852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0" y="12344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Does not work indoors, no satellite signal penetration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2286000" cy="530352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Bluetooth BLE Beacons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34640" y="1920240"/>
            <a:ext cx="5852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0" y="19202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Short range (~10 m), requires dense infrastructure, high power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2286000" cy="530352"/>
          </a:xfrm>
          <a:prstGeom prst="rect">
            <a:avLst/>
          </a:prstGeom>
          <a:solidFill>
            <a:srgbClr val="8E44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6060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Wi-Fi Fingerprinting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34640" y="2606040"/>
            <a:ext cx="5852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0" y="26060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Requires site surveys, high computation, infrastructure-heavy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2286000" cy="530352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RFID Systems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34640" y="3291840"/>
            <a:ext cx="5852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Read range limited to centimetres–metres; needs specialized readers at every door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2286000" cy="5303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97764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UWB (Ultra-Wideband)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834640" y="3977640"/>
            <a:ext cx="5852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26080" y="397764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Very accurate but expensive hardware and complex anchor setup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65A82"/>
                </a:solidFill>
              </a:rPr>
              <a:t>Our Gap: A low-power, LoRa-based indoor localization system with cloud dashboard , therefore, practical for real buildings at low cost.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03 · 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Asset Localization System Using LoRa — track assets via RSSI-based zone estimation, forwarded to ThingsBoard cloud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📡  LoRa Tags on Assets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587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Each tracked asset carries a LoRa transmitter broadcasting a unique asset ID every 3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14884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📥  ESP32 Receiver Node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65192" y="258775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Fixed receiver captures packets, measures RSSI &amp; SNR, classifies into proximity zone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☁️  Wi-Fi → ThingsBoard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867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ESP32 forwards readings via HTTP POST to ThingsBoard cloud for storage &amp; visualization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429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5192" y="35387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🗺️  Live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5192" y="38679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Real-time zone display (NEAR / MID / FAR / OUT OF RANGE) with asset ID, RSSI &amp; timestamp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04 · 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" y="1417320"/>
            <a:ext cx="1600200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" y="1417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Transmitter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(Asset Tag)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92024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11680" y="18105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20239" y="1417320"/>
            <a:ext cx="1600200" cy="1005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39" y="1417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ESP32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LoRa Receiver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+ OLED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92024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86200" y="18105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94760" y="1417320"/>
            <a:ext cx="1600200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94760" y="1417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Wi-Fi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92024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60720" y="18105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1417320"/>
            <a:ext cx="1600200" cy="1005840"/>
          </a:xfrm>
          <a:prstGeom prst="rect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0" y="1417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ThingsBoard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1920240"/>
            <a:ext cx="5486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35240" y="1810512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2C39A"/>
                </a:solidFill>
              </a:rPr>
              <a:t>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43800" y="1417320"/>
            <a:ext cx="1600200" cy="1005840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43800" y="141732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(Browser)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39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LoRa 868 MHz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566160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LoRa → Wi-Fi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40680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HTTP POST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0" y="254203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API / WS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Hardware Components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8229600" cy="13716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Tag / Transmitter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Broadcasts asset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+ LoRa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 signal, measures RSSI, forwards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+ Wi-Fi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 Router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 ESP32 to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Wi-Fi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ThingsBoard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data, runs zone logic, serves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/ 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457200" y="3246120"/>
            <a:ext cx="8229600" cy="31089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2920" y="3246120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Component         Role                                                  Protocol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05 · IMPLEMENTATION PLAN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965960" cy="7315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Apr 23–29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80260"/>
            <a:ext cx="1965960" cy="237744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pPr indent="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Assign Tx/Rx roles</a:t>
            </a:r>
            <a:endParaRPr lang="en-US" sz="1600" dirty="0"/>
          </a:p>
          <a:p>
            <a:pPr indent="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Flash Sender &amp; Receiver firmware</a:t>
            </a:r>
            <a:endParaRPr lang="en-US" sz="1600" dirty="0"/>
          </a:p>
          <a:p>
            <a:pPr indent="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Test LoRa link, log RSSI locally</a:t>
            </a:r>
            <a:endParaRPr lang="en-US" sz="1600" dirty="0"/>
          </a:p>
          <a:p>
            <a:pPr indent="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Define test zones &amp; backend skeleton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06040" y="1325879"/>
            <a:ext cx="1965960" cy="70702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0604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Apr 30–May 6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06040" y="2032906"/>
            <a:ext cx="1920240" cy="2401934"/>
          </a:xfrm>
          <a:prstGeom prst="rect">
            <a:avLst/>
          </a:prstGeom>
          <a:solidFill>
            <a:srgbClr val="EBF4FA"/>
          </a:solidFill>
          <a:ln/>
        </p:spPr>
        <p:txBody>
          <a:bodyPr/>
          <a:lstStyle/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r>
              <a:rPr lang="en-US" b="1" dirty="0">
                <a:solidFill>
                  <a:srgbClr val="1E293B"/>
                </a:solidFill>
              </a:rPr>
              <a:t>Wi-Fi forwarding, DB logging &amp; RSSI calibration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97480" y="28575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651760" y="2286000"/>
            <a:ext cx="1874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325880"/>
            <a:ext cx="1965960" cy="70702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May 7–13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00600" y="28117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22" name="Shape 20"/>
          <p:cNvSpPr/>
          <p:nvPr/>
        </p:nvSpPr>
        <p:spPr>
          <a:xfrm>
            <a:off x="4754880" y="2034540"/>
            <a:ext cx="1965960" cy="237744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r>
              <a:rPr lang="en-US" b="1" dirty="0">
                <a:solidFill>
                  <a:srgbClr val="1E293B"/>
                </a:solidFill>
              </a:rPr>
              <a:t>Zone logic, floor map dashboard &amp; end-to-end test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903720" y="1325879"/>
            <a:ext cx="1965960" cy="707027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903720" y="13258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Week 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May 14–20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18288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500" dirty="0"/>
          </a:p>
        </p:txBody>
      </p:sp>
      <p:sp>
        <p:nvSpPr>
          <p:cNvPr id="28" name="Shape 26"/>
          <p:cNvSpPr/>
          <p:nvPr/>
        </p:nvSpPr>
        <p:spPr>
          <a:xfrm>
            <a:off x="6903720" y="2057400"/>
            <a:ext cx="1965960" cy="2377440"/>
          </a:xfrm>
          <a:prstGeom prst="rect">
            <a:avLst/>
          </a:prstGeom>
          <a:solidFill>
            <a:srgbClr val="F0F7FF"/>
          </a:solidFill>
          <a:ln/>
        </p:spPr>
        <p:txBody>
          <a:bodyPr/>
          <a:lstStyle/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endParaRPr lang="en-US" b="1" dirty="0">
              <a:solidFill>
                <a:srgbClr val="1E293B"/>
              </a:solidFill>
            </a:endParaRPr>
          </a:p>
          <a:p>
            <a:pPr algn="ctr"/>
            <a:r>
              <a:rPr lang="en-US" b="1" dirty="0">
                <a:solidFill>
                  <a:srgbClr val="1E293B"/>
                </a:solidFill>
              </a:rPr>
              <a:t>Validation, tuning &amp; final report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✅ Week 1 COMPLETE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06 · PROGRESS SO FAR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 — Week 1 Complete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64008" cy="3291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6479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Sender firmware: broadcasts LAPTOP-001|PKT:N every 3 s on 868 MHz, SF7, BW 125 kHz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Receiver firmware: parses packet, reads RSSI &amp; SNR, classifies zone, displays on OLED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Zone classification logic: NEAR (&lt;–60 dBm) / MID (&lt;–80) / FAR (&lt;–100) / OUT OF RANGE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Wi-Fi + NTP time sync implemented (UTC+2 Egypt)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ThingsBoard HTTP POST sending assetID, RSSI, SNR, zone as JSON telemetry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OLED display output confirming live packet reception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1325880"/>
            <a:ext cx="41148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444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Code Snippets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3931920" cy="2697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36592" y="1901952"/>
            <a:ext cx="3794760" cy="2542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Sender (Project_Sender.ino)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msg = assetID + "|PKT:" + counter;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Receiver — Zone logic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(rssi &gt; -60)  return "NEAR";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(rssi &gt; -80)  return "MID";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(rssi &gt; -100) return "FAR";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Send to ThingsBoard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http.POST("{assetID, rssi, snr, zone}");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07 · CHALLENGES &amp; 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</a:rPr>
              <a:t>Current Challenges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Only 2 LoRa Modules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Limits us to coarse RSSI zones — true triangulation needs 3+ nodes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RSSI Variability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2491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Multipath reflections &amp; obstacles cause fluctuation; requires calibration per environment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182112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Single Asset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43814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prototype tracks one asset; multi-asset requires ID-based multiplexing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54864" cy="566928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953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Wi-Fi Dependency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15137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Receiver needs stable Wi-Fi; dead spots could drop readings to backend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353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</a:rPr>
              <a:t>Next Steps (Weeks 2–4)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180136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755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Wi-Fi + DB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Connect ESP32 to ThingsBoard, verify live storage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9572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395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23500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RSSI Calibration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Measure at 3–5 distances, set realistic thresholds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99008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66344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Floor Map 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zone map, no manual refresh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58444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584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5387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Multi-asset simulation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simulated asset IDs to test dashboard scalability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178808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41330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Power Measurement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Measure current draw on Tx/Rx (mandatory bonus feature)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83664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000" dirty="0"/>
          </a:p>
        </p:txBody>
      </p:sp>
      <p:sp>
        <p:nvSpPr>
          <p:cNvPr id="20" name="Text 18"/>
          <p:cNvSpPr/>
          <p:nvPr/>
        </p:nvSpPr>
        <p:spPr>
          <a:xfrm>
            <a:off x="539496" y="292118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F6F889-106D-480C-A41A-AD9D082FD0A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ba4e5cc-0df0-49a0-99eb-3d6231bcb76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1011</Words>
  <Application>Microsoft Office PowerPoint</Application>
  <PresentationFormat>On-screen Show (16:9)</PresentationFormat>
  <Paragraphs>204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Asset Localization System Using LoRa</dc:title>
  <dc:subject>PptxGenJS Presentation</dc:subject>
  <dc:creator>PptxGenJS</dc:creator>
  <cp:lastModifiedBy>George Henein</cp:lastModifiedBy>
  <cp:revision>4</cp:revision>
  <dcterms:created xsi:type="dcterms:W3CDTF">2026-04-29T20:40:45Z</dcterms:created>
  <dcterms:modified xsi:type="dcterms:W3CDTF">2026-04-29T21:51:12Z</dcterms:modified>
</cp:coreProperties>
</file>