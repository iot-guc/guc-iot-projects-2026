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Mukta Light" panose="020B0604020202020204" charset="0"/>
      <p:regular r:id="rId14"/>
    </p:embeddedFont>
    <p:embeddedFont>
      <p:font typeface="Prompt Light" panose="00000400000000000000" pitchFamily="2" charset="-34"/>
      <p:regular r:id="rId15"/>
    </p:embeddedFont>
    <p:embeddedFont>
      <p:font typeface="Prompt Medium" panose="00000600000000000000" pitchFamily="2" charset="-3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34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542C4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133" y="165140"/>
            <a:ext cx="5266134" cy="78992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67462" y="1890713"/>
            <a:ext cx="7381875" cy="1223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IoT-Based Asset Tracking System Using LoRa and GPS</a:t>
            </a:r>
            <a:endParaRPr lang="en-US" sz="3850" dirty="0"/>
          </a:p>
        </p:txBody>
      </p:sp>
      <p:sp>
        <p:nvSpPr>
          <p:cNvPr id="5" name="Shape 2"/>
          <p:cNvSpPr/>
          <p:nvPr/>
        </p:nvSpPr>
        <p:spPr>
          <a:xfrm>
            <a:off x="6208871" y="3445073"/>
            <a:ext cx="3739396" cy="2893814"/>
          </a:xfrm>
          <a:prstGeom prst="roundRect">
            <a:avLst>
              <a:gd name="adj" fmla="val 5481"/>
            </a:avLst>
          </a:prstGeom>
          <a:solidFill>
            <a:srgbClr val="A95B95">
              <a:alpha val="9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429137" y="3665339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Team &amp; Course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429137" y="4191595"/>
            <a:ext cx="329886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Team:</a:t>
            </a:r>
            <a:r>
              <a:rPr lang="en-US" sz="170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IoT Innovators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29137" y="4742259"/>
            <a:ext cx="329886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Course:</a:t>
            </a:r>
            <a:r>
              <a:rPr lang="en-US" sz="170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Internet of Things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29137" y="5292923"/>
            <a:ext cx="329886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Instructor:</a:t>
            </a:r>
            <a:r>
              <a:rPr lang="en-US" sz="170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Dr. Tallal El Shabrawy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334744" y="3665339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Team Members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334744" y="4191595"/>
            <a:ext cx="3422213" cy="2070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Adam Amr — 55-4111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Kareem Emad — 55-4357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George Ehab — 55-25881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Farah Khaled — 55-5083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Rahma Mohamed — 55-23548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542C4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74" y="149662"/>
            <a:ext cx="5286851" cy="79302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4952" y="839153"/>
            <a:ext cx="7457480" cy="554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Introduction &amp; Problem Statement</a:t>
            </a:r>
            <a:endParaRPr lang="en-US" sz="3450" dirty="0"/>
          </a:p>
        </p:txBody>
      </p:sp>
      <p:sp>
        <p:nvSpPr>
          <p:cNvPr id="5" name="Text 2"/>
          <p:cNvSpPr/>
          <p:nvPr/>
        </p:nvSpPr>
        <p:spPr>
          <a:xfrm>
            <a:off x="6284952" y="1664970"/>
            <a:ext cx="7546896" cy="91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Asset tracking is critical for logistics, equipment monitoring, and location-aware IoT applications. Many traditional systems rely on GSM, Wi-Fi, or Bluetooth — each carrying trade-offs in power consumption, communication range, or cost.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6284952" y="2781776"/>
            <a:ext cx="3682960" cy="1713309"/>
          </a:xfrm>
          <a:prstGeom prst="roundRect">
            <a:avLst>
              <a:gd name="adj" fmla="val 489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121" y="2988945"/>
            <a:ext cx="2218134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92121" y="3374588"/>
            <a:ext cx="3268623" cy="91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Tracking assets efficiently and reliably across varying environments without excessive cost or power draw.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0148768" y="2781776"/>
            <a:ext cx="3683079" cy="1713309"/>
          </a:xfrm>
          <a:prstGeom prst="roundRect">
            <a:avLst>
              <a:gd name="adj" fmla="val 4894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55937" y="2988945"/>
            <a:ext cx="2218134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355937" y="3374588"/>
            <a:ext cx="3268742" cy="91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Smart logistics, equipment tracking, and field monitoring all demand dependable, scalable location solutions.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284952" y="4675942"/>
            <a:ext cx="7546896" cy="1408867"/>
          </a:xfrm>
          <a:prstGeom prst="roundRect">
            <a:avLst>
              <a:gd name="adj" fmla="val 5952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2121" y="4883110"/>
            <a:ext cx="2218134" cy="277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Our Goal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492121" y="5268754"/>
            <a:ext cx="7132558" cy="60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Build a </a:t>
            </a:r>
            <a:r>
              <a:rPr lang="en-US" sz="15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low-cost</a:t>
            </a: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</a:t>
            </a:r>
            <a:r>
              <a:rPr lang="en-US" sz="15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low-power</a:t>
            </a: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</a:t>
            </a:r>
            <a:r>
              <a:rPr lang="en-US" sz="15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long-range</a:t>
            </a: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prototype that transmits asset location wirelessly and displays it clearly.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284952" y="6288286"/>
            <a:ext cx="7546896" cy="1102162"/>
          </a:xfrm>
          <a:prstGeom prst="roundRect">
            <a:avLst>
              <a:gd name="adj" fmla="val 7608"/>
            </a:avLst>
          </a:prstGeom>
          <a:solidFill>
            <a:srgbClr val="022349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501" y="6568797"/>
            <a:ext cx="249436" cy="19954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33486" y="6519029"/>
            <a:ext cx="6698813" cy="60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Our solution combines </a:t>
            </a:r>
            <a:r>
              <a:rPr lang="en-US" sz="1550" b="1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GPS for location acquisition</a:t>
            </a:r>
            <a:r>
              <a:rPr lang="en-US" sz="155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and </a:t>
            </a:r>
            <a:r>
              <a:rPr lang="en-US" sz="1550" b="1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LoRa for long-range wireless transmission</a:t>
            </a:r>
            <a:r>
              <a:rPr lang="en-US" sz="155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— addressing the core limitations of existing approaches.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7370" y="657820"/>
            <a:ext cx="4818936" cy="602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Related Work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867370" y="1686878"/>
            <a:ext cx="12895659" cy="688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Existing tracking technologies each solve part of the problem, but none offer a complete balance of range, power efficiency, cost, and ease of monitoring.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67370" y="2615089"/>
            <a:ext cx="4156234" cy="3460433"/>
          </a:xfrm>
          <a:prstGeom prst="roundRect">
            <a:avLst>
              <a:gd name="adj" fmla="val 4228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890" y="2615089"/>
            <a:ext cx="121920" cy="3460433"/>
          </a:xfrm>
          <a:prstGeom prst="roundRect">
            <a:avLst>
              <a:gd name="adj" fmla="val 74703"/>
            </a:avLst>
          </a:prstGeom>
          <a:solidFill>
            <a:srgbClr val="A95B95"/>
          </a:solidFill>
          <a:ln/>
        </p:spPr>
      </p:sp>
      <p:sp>
        <p:nvSpPr>
          <p:cNvPr id="6" name="Text 4"/>
          <p:cNvSpPr/>
          <p:nvPr/>
        </p:nvSpPr>
        <p:spPr>
          <a:xfrm>
            <a:off x="1206103" y="2862382"/>
            <a:ext cx="240946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GPS + GSM Trackers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206103" y="3291602"/>
            <a:ext cx="3570208" cy="688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Strengths: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Real-time tracking with broad cellular coverage.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06103" y="4107775"/>
            <a:ext cx="3570208" cy="103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Limitations: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Higher power consumption, SIM/data costs, and dependence on cellular infrastructure.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236964" y="2615089"/>
            <a:ext cx="4156353" cy="3460433"/>
          </a:xfrm>
          <a:prstGeom prst="roundRect">
            <a:avLst>
              <a:gd name="adj" fmla="val 4228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06484" y="2615089"/>
            <a:ext cx="121920" cy="3460433"/>
          </a:xfrm>
          <a:prstGeom prst="roundRect">
            <a:avLst>
              <a:gd name="adj" fmla="val 74703"/>
            </a:avLst>
          </a:prstGeom>
          <a:solidFill>
            <a:srgbClr val="A95B95"/>
          </a:solidFill>
          <a:ln/>
        </p:spPr>
      </p:sp>
      <p:sp>
        <p:nvSpPr>
          <p:cNvPr id="11" name="Text 9"/>
          <p:cNvSpPr/>
          <p:nvPr/>
        </p:nvSpPr>
        <p:spPr>
          <a:xfrm>
            <a:off x="5575697" y="2862382"/>
            <a:ext cx="308336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Bluetooth / Wi-Fi Trackers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5575697" y="3291602"/>
            <a:ext cx="3570327" cy="688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Strengths: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Well-suited for short-range or indoor environments.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575697" y="4107775"/>
            <a:ext cx="3570327" cy="103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Limitations: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Limited range and dependence on nearby infrastructure access points.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606677" y="2615089"/>
            <a:ext cx="4156353" cy="3460433"/>
          </a:xfrm>
          <a:prstGeom prst="roundRect">
            <a:avLst>
              <a:gd name="adj" fmla="val 4228"/>
            </a:avLst>
          </a:prstGeom>
          <a:solidFill>
            <a:srgbClr val="0B0C23">
              <a:alpha val="95000"/>
            </a:srgbClr>
          </a:solidFill>
          <a:ln w="30480">
            <a:solidFill>
              <a:srgbClr val="6D45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76197" y="2615089"/>
            <a:ext cx="121920" cy="3460433"/>
          </a:xfrm>
          <a:prstGeom prst="roundRect">
            <a:avLst>
              <a:gd name="adj" fmla="val 74703"/>
            </a:avLst>
          </a:prstGeom>
          <a:solidFill>
            <a:srgbClr val="A95B95"/>
          </a:solidFill>
          <a:ln/>
        </p:spPr>
      </p:sp>
      <p:sp>
        <p:nvSpPr>
          <p:cNvPr id="16" name="Text 14"/>
          <p:cNvSpPr/>
          <p:nvPr/>
        </p:nvSpPr>
        <p:spPr>
          <a:xfrm>
            <a:off x="9945410" y="2862382"/>
            <a:ext cx="348722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LoRa-Based Tracking Systems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9945410" y="3291602"/>
            <a:ext cx="3570327" cy="103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Strengths: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Long-range, low-power communication ideal for IoT deployments.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945410" y="4451866"/>
            <a:ext cx="3570327" cy="1376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Limitations: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Some systems lack visualization features, historical monitoring, or have infrastructure dependencies.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67370" y="6315551"/>
            <a:ext cx="12895659" cy="1256109"/>
          </a:xfrm>
          <a:prstGeom prst="roundRect">
            <a:avLst>
              <a:gd name="adj" fmla="val 7251"/>
            </a:avLst>
          </a:prstGeom>
          <a:solidFill>
            <a:srgbClr val="183A13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183" y="6632972"/>
            <a:ext cx="270986" cy="21681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71982" y="6583085"/>
            <a:ext cx="11974235" cy="688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Our project targets a </a:t>
            </a:r>
            <a:r>
              <a:rPr lang="en-US" sz="1700" b="1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practical balance</a:t>
            </a:r>
            <a:r>
              <a:rPr lang="en-US" sz="17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using GPS + LoRa + dashboard visualization — combining the best of each approach while minimizing their individual drawbacks.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741" y="641866"/>
            <a:ext cx="4359950" cy="544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Proposed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84741" y="1536263"/>
            <a:ext cx="13060918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Our proposed system is an </a:t>
            </a:r>
            <a:r>
              <a:rPr lang="en-US" sz="15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IoT asset tracking solution</a:t>
            </a: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built around three core components working in concert to deliver real-time, long-range location monitoring.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3414" y="2029539"/>
            <a:ext cx="6573798" cy="2410658"/>
          </a:xfrm>
          <a:prstGeom prst="roundRect">
            <a:avLst>
              <a:gd name="adj" fmla="val 5860"/>
            </a:avLst>
          </a:prstGeom>
          <a:solidFill>
            <a:srgbClr val="A95B95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39510" y="2204204"/>
            <a:ext cx="2179915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System Components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39510" y="2651284"/>
            <a:ext cx="6181606" cy="1012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Sender node attached to the asset</a:t>
            </a:r>
            <a:endParaRPr lang="en-US" sz="150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Receiver node at the monitoring station</a:t>
            </a:r>
            <a:endParaRPr lang="en-US" sz="150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Dashboard interface for visualization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62136" y="2204204"/>
            <a:ext cx="2179915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62136" y="2651284"/>
            <a:ext cx="6291143" cy="1727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Sender reads real-time coordinates from a </a:t>
            </a:r>
            <a:r>
              <a:rPr lang="en-US" sz="15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NEO-6M GPS module</a:t>
            </a:r>
            <a:endParaRPr lang="en-US" sz="1500" dirty="0"/>
          </a:p>
          <a:p>
            <a:pPr marL="342900" indent="-342900" algn="l">
              <a:lnSpc>
                <a:spcPts val="23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Coordinates are transmitted via the </a:t>
            </a:r>
            <a:r>
              <a:rPr lang="en-US" sz="15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LILYGO LoRa32 board</a:t>
            </a:r>
            <a:endParaRPr lang="en-US" sz="1500" dirty="0"/>
          </a:p>
          <a:p>
            <a:pPr marL="342900" indent="-342900" algn="l">
              <a:lnSpc>
                <a:spcPts val="23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Receiver LoRa board captures the transmitted data</a:t>
            </a:r>
            <a:endParaRPr lang="en-US" sz="1500" dirty="0"/>
          </a:p>
          <a:p>
            <a:pPr marL="342900" indent="-342900" algn="l">
              <a:lnSpc>
                <a:spcPts val="230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Location is forwarded to the dashboard for visualization</a:t>
            </a:r>
            <a:endParaRPr lang="en-US" sz="1500" dirty="0"/>
          </a:p>
          <a:p>
            <a:pPr marL="342900" indent="-342900" algn="l">
              <a:lnSpc>
                <a:spcPts val="2300"/>
              </a:lnSpc>
              <a:buSzPct val="100000"/>
              <a:buFont typeface="+mj-lt"/>
              <a:buAutoNum type="arabicPeriod" startAt="5"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Dashboard displays live position and stores history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4703" y="4636770"/>
            <a:ext cx="4140994" cy="2457688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0968" y="5237470"/>
            <a:ext cx="352519" cy="352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126896" y="6447270"/>
            <a:ext cx="1029355" cy="352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Receiver &amp; Dashboard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50418" y="5238131"/>
            <a:ext cx="352519" cy="3525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29627" y="6535400"/>
            <a:ext cx="1029354" cy="176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LoRa Link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53150" y="5238131"/>
            <a:ext cx="352519" cy="35251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511207" y="6535400"/>
            <a:ext cx="1029354" cy="176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Sender Node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784741" y="7291030"/>
            <a:ext cx="13060918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architecture enables long-range data transmission, live location visualization, and a historical movement trail as the mandatory additional feature.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0930" y="554712"/>
            <a:ext cx="5753814" cy="535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Key Features of the System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930" y="1427440"/>
            <a:ext cx="481846" cy="4818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0930" y="2120027"/>
            <a:ext cx="2626995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Real-Time Asset Tracking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70930" y="2488763"/>
            <a:ext cx="6438900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Continuously acquires and transmits the live location of the tracked asset.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0570" y="1427440"/>
            <a:ext cx="481846" cy="48184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20570" y="2120027"/>
            <a:ext cx="2878098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GPS Coordinate Acquisition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7420570" y="2488763"/>
            <a:ext cx="6438900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Uses the </a:t>
            </a:r>
            <a:r>
              <a:rPr lang="en-US" sz="15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NEO-6M GPS module</a:t>
            </a: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to read latitude, longitude, and satellite count.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0930" y="3115151"/>
            <a:ext cx="481846" cy="48184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0930" y="3807738"/>
            <a:ext cx="3525679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Long-Range LoRa Communication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770930" y="4176474"/>
            <a:ext cx="6438900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Transmits data over long distances with minimal power consumption using LoRa protocol.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0570" y="3115151"/>
            <a:ext cx="481846" cy="48184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20570" y="3807738"/>
            <a:ext cx="2623304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Historical Movement Trail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7420570" y="4176474"/>
            <a:ext cx="6438900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Records and displays the recent path of movement — the mandatory additional feature of this project.</a:t>
            </a:r>
            <a:endParaRPr lang="en-US" sz="15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0930" y="5091946"/>
            <a:ext cx="481846" cy="48184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70930" y="5784532"/>
            <a:ext cx="2498050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Dashboard Visualization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770930" y="6153269"/>
            <a:ext cx="6438900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Integrates </a:t>
            </a:r>
            <a:r>
              <a:rPr lang="en-US" sz="15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Google Maps API</a:t>
            </a: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for live map markers and stored coordinate records.</a:t>
            </a:r>
            <a:endParaRPr lang="en-US" sz="15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20570" y="5091946"/>
            <a:ext cx="481846" cy="48184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20570" y="5784532"/>
            <a:ext cx="2711053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Power Usage Observation</a:t>
            </a:r>
            <a:endParaRPr lang="en-US" sz="1650" dirty="0"/>
          </a:p>
        </p:txBody>
      </p:sp>
      <p:sp>
        <p:nvSpPr>
          <p:cNvPr id="20" name="Text 12"/>
          <p:cNvSpPr/>
          <p:nvPr/>
        </p:nvSpPr>
        <p:spPr>
          <a:xfrm>
            <a:off x="7420570" y="6153269"/>
            <a:ext cx="6438900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Measures and monitors power consumption to evaluate system efficiency.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770930" y="6632019"/>
            <a:ext cx="13088541" cy="1042868"/>
          </a:xfrm>
          <a:prstGeom prst="roundRect">
            <a:avLst>
              <a:gd name="adj" fmla="val 7763"/>
            </a:avLst>
          </a:prstGeom>
          <a:solidFill>
            <a:srgbClr val="321A2C"/>
          </a:solidFill>
          <a:ln/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573" y="6902291"/>
            <a:ext cx="240863" cy="192643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397079" y="6848713"/>
            <a:ext cx="12269748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historical movement trail allows users to see not only the current location, but also the recent path of movement — enabling richer analysis and monitoring.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03985" y="488156"/>
            <a:ext cx="3747968" cy="468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System Architecture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1403985" y="1214914"/>
            <a:ext cx="11822430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system is organized into four functional layers, each responsible for a distinct part of the tracking pipeline.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999" y="1598414"/>
            <a:ext cx="7406402" cy="4133731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1999" y="1598414"/>
            <a:ext cx="7406402" cy="413373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03985" y="6006465"/>
            <a:ext cx="1873925" cy="234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GPS Sensor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1403985" y="6369725"/>
            <a:ext cx="2646998" cy="759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NEO-6M GPS module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Reads latitude, longitude, satellite count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470083" y="6006465"/>
            <a:ext cx="1873925" cy="234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Sender Node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4470083" y="6369725"/>
            <a:ext cx="2646998" cy="804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LILYGO TTGO LoRa32-OLED board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Parses GPS data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Packages and sends data via LoRa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536180" y="6006465"/>
            <a:ext cx="1873925" cy="234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Receiver Node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536180" y="6369725"/>
            <a:ext cx="2646998" cy="132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LILYGO TTGO LoRa32-OLED board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Receives LoRa packet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Extracts GPS coordinates and RSSI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Displays and prepares data for backend/software layer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602278" y="6006465"/>
            <a:ext cx="2046922" cy="234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Software &amp; Dashboard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0602278" y="6369725"/>
            <a:ext cx="2646998" cy="132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Serial or backend interface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Database storage for coordinates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Google Maps API integration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Real-time marker + movement trail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03985" y="538401"/>
            <a:ext cx="3747968" cy="468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Implementation Plan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1403985" y="1265158"/>
            <a:ext cx="11822430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project is structured as a focused </a:t>
            </a:r>
            <a:r>
              <a:rPr lang="en-US" sz="13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4-week development timeline</a:t>
            </a: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with clear deliverables at each milestone.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403985" y="3111341"/>
            <a:ext cx="11822430" cy="22860"/>
          </a:xfrm>
          <a:prstGeom prst="roundRect">
            <a:avLst>
              <a:gd name="adj" fmla="val 309880"/>
            </a:avLst>
          </a:prstGeom>
          <a:solidFill>
            <a:srgbClr val="6D4562"/>
          </a:solidFill>
          <a:ln/>
        </p:spPr>
      </p:sp>
      <p:sp>
        <p:nvSpPr>
          <p:cNvPr id="5" name="Shape 3"/>
          <p:cNvSpPr/>
          <p:nvPr/>
        </p:nvSpPr>
        <p:spPr>
          <a:xfrm>
            <a:off x="3708440" y="2605504"/>
            <a:ext cx="22860" cy="505897"/>
          </a:xfrm>
          <a:prstGeom prst="roundRect">
            <a:avLst>
              <a:gd name="adj" fmla="val 309880"/>
            </a:avLst>
          </a:prstGeom>
          <a:solidFill>
            <a:srgbClr val="6D4562"/>
          </a:solidFill>
          <a:ln/>
        </p:spPr>
      </p:sp>
      <p:sp>
        <p:nvSpPr>
          <p:cNvPr id="6" name="Shape 4"/>
          <p:cNvSpPr/>
          <p:nvPr/>
        </p:nvSpPr>
        <p:spPr>
          <a:xfrm>
            <a:off x="3530203" y="2921615"/>
            <a:ext cx="379452" cy="379452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07475" y="2970788"/>
            <a:ext cx="224790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2783086" y="1648658"/>
            <a:ext cx="1873925" cy="234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Week 1 ✓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572578" y="1960245"/>
            <a:ext cx="4294942" cy="476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Stabilize hardware, firmware, and payload format. — Completed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05168" y="3111282"/>
            <a:ext cx="22860" cy="505897"/>
          </a:xfrm>
          <a:prstGeom prst="roundRect">
            <a:avLst>
              <a:gd name="adj" fmla="val 309880"/>
            </a:avLst>
          </a:prstGeom>
          <a:solidFill>
            <a:srgbClr val="6D4562"/>
          </a:solidFill>
          <a:ln/>
        </p:spPr>
      </p:sp>
      <p:sp>
        <p:nvSpPr>
          <p:cNvPr id="11" name="Shape 9"/>
          <p:cNvSpPr/>
          <p:nvPr/>
        </p:nvSpPr>
        <p:spPr>
          <a:xfrm>
            <a:off x="5926931" y="2921615"/>
            <a:ext cx="379452" cy="379452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04203" y="2970788"/>
            <a:ext cx="224790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179814" y="3785949"/>
            <a:ext cx="1873925" cy="234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Week 2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969306" y="4097536"/>
            <a:ext cx="4294942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Connect receiver/backend path and build dashboard v1.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01896" y="2605504"/>
            <a:ext cx="22860" cy="505897"/>
          </a:xfrm>
          <a:prstGeom prst="roundRect">
            <a:avLst>
              <a:gd name="adj" fmla="val 309880"/>
            </a:avLst>
          </a:prstGeom>
          <a:solidFill>
            <a:srgbClr val="6D4562"/>
          </a:solidFill>
          <a:ln/>
        </p:spPr>
      </p:sp>
      <p:sp>
        <p:nvSpPr>
          <p:cNvPr id="16" name="Shape 14"/>
          <p:cNvSpPr/>
          <p:nvPr/>
        </p:nvSpPr>
        <p:spPr>
          <a:xfrm>
            <a:off x="8323659" y="2921615"/>
            <a:ext cx="379452" cy="379452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00931" y="2970788"/>
            <a:ext cx="224790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76542" y="1648658"/>
            <a:ext cx="1873925" cy="234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Week 3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66034" y="1960245"/>
            <a:ext cx="4294942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Add historical trail, geofence, and documentation.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898624" y="3111282"/>
            <a:ext cx="22860" cy="505897"/>
          </a:xfrm>
          <a:prstGeom prst="roundRect">
            <a:avLst>
              <a:gd name="adj" fmla="val 309880"/>
            </a:avLst>
          </a:prstGeom>
          <a:solidFill>
            <a:srgbClr val="6D4562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20387" y="2921615"/>
            <a:ext cx="379452" cy="379452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97659" y="2970788"/>
            <a:ext cx="224790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4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973270" y="3785949"/>
            <a:ext cx="1873925" cy="234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Week 4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762762" y="4097536"/>
            <a:ext cx="4294942" cy="476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Final integration, testing, power measurement, and demo prep.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03985" y="4767620"/>
            <a:ext cx="2998351" cy="374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Task Distribution</a:t>
            </a:r>
            <a:endParaRPr lang="en-US" sz="235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3985" y="5335905"/>
            <a:ext cx="337304" cy="33730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403985" y="5834539"/>
            <a:ext cx="1917263" cy="234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Firmware / Hardware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1403985" y="6146125"/>
            <a:ext cx="5830491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GPS integration, LoRa transmission, testing.</a:t>
            </a:r>
            <a:endParaRPr lang="en-US" sz="130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5805" y="5335905"/>
            <a:ext cx="337304" cy="33730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395805" y="5834539"/>
            <a:ext cx="2018943" cy="234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Backend / Integration</a:t>
            </a:r>
            <a:endParaRPr lang="en-US" sz="1450" dirty="0"/>
          </a:p>
        </p:txBody>
      </p:sp>
      <p:sp>
        <p:nvSpPr>
          <p:cNvPr id="31" name="Text 27"/>
          <p:cNvSpPr/>
          <p:nvPr/>
        </p:nvSpPr>
        <p:spPr>
          <a:xfrm>
            <a:off x="7395805" y="6146125"/>
            <a:ext cx="5830610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Data ingestion, database, API/backend logic.</a:t>
            </a:r>
            <a:endParaRPr lang="en-US" sz="130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3985" y="6642616"/>
            <a:ext cx="337304" cy="33730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403985" y="7141250"/>
            <a:ext cx="1873925" cy="234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Frontend</a:t>
            </a:r>
            <a:endParaRPr lang="en-US" sz="1450" dirty="0"/>
          </a:p>
        </p:txBody>
      </p:sp>
      <p:sp>
        <p:nvSpPr>
          <p:cNvPr id="34" name="Text 29"/>
          <p:cNvSpPr/>
          <p:nvPr/>
        </p:nvSpPr>
        <p:spPr>
          <a:xfrm>
            <a:off x="1403985" y="7452836"/>
            <a:ext cx="5830491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Dashboard, map, history trail, geofence display.</a:t>
            </a:r>
            <a:endParaRPr lang="en-US" sz="130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5805" y="6642616"/>
            <a:ext cx="337304" cy="33730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395805" y="7141250"/>
            <a:ext cx="1891427" cy="234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QA / Documentation</a:t>
            </a:r>
            <a:endParaRPr lang="en-US" sz="1450" dirty="0"/>
          </a:p>
        </p:txBody>
      </p:sp>
      <p:sp>
        <p:nvSpPr>
          <p:cNvPr id="37" name="Text 31"/>
          <p:cNvSpPr/>
          <p:nvPr/>
        </p:nvSpPr>
        <p:spPr>
          <a:xfrm>
            <a:off x="7395805" y="7452836"/>
            <a:ext cx="5830610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Logs, screenshots, report, slides, demo prep.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2035" y="576143"/>
            <a:ext cx="3977521" cy="49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Progress So Far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042035" y="1364099"/>
            <a:ext cx="12546330" cy="259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Significant progress has already been achieved, validating the core communication chain of the system ahead of schedule.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42035" y="1787128"/>
            <a:ext cx="402669" cy="402669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4069" y="1839337"/>
            <a:ext cx="238601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590080" y="1848564"/>
            <a:ext cx="5221843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Correct TTGO LoRa32 Board Configuration Confirmed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590080" y="2184202"/>
            <a:ext cx="5634276" cy="5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correct </a:t>
            </a:r>
            <a:r>
              <a:rPr lang="en-US" sz="14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TTGO LoRa32</a:t>
            </a: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boards were identified and configured with the proper port settings and firmware.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045" y="1787128"/>
            <a:ext cx="402669" cy="402669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88079" y="1839337"/>
            <a:ext cx="238601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954089" y="1848564"/>
            <a:ext cx="5634276" cy="496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NEO-6M GPS Successfully Connected and Tested Outdoors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54089" y="2432685"/>
            <a:ext cx="5634276" cy="5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</a:t>
            </a:r>
            <a:r>
              <a:rPr lang="en-US" sz="14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NEO-6M GPS module</a:t>
            </a: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was connected and validated outdoors, with valid coordinates acquired along with satellite count and </a:t>
            </a:r>
            <a:r>
              <a:rPr lang="en-US" sz="14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HDOP</a:t>
            </a: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42035" y="3242310"/>
            <a:ext cx="402669" cy="402669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069" y="3294519"/>
            <a:ext cx="238601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590080" y="3303746"/>
            <a:ext cx="3717608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Structured LoRa Payload Implemented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590080" y="3639383"/>
            <a:ext cx="5634276" cy="5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 structured payload format was defined and implemented for </a:t>
            </a:r>
            <a:r>
              <a:rPr lang="en-US" sz="14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device ID</a:t>
            </a: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</a:t>
            </a:r>
            <a:r>
              <a:rPr lang="en-US" sz="14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fix</a:t>
            </a: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</a:t>
            </a:r>
            <a:r>
              <a:rPr lang="en-US" sz="14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latitude</a:t>
            </a: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</a:t>
            </a:r>
            <a:r>
              <a:rPr lang="en-US" sz="14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longitude</a:t>
            </a: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</a:t>
            </a:r>
            <a:r>
              <a:rPr lang="en-US" sz="14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UTC timestamp</a:t>
            </a: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</a:t>
            </a:r>
            <a:r>
              <a:rPr lang="en-US" sz="14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satellites</a:t>
            </a: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</a:t>
            </a:r>
            <a:r>
              <a:rPr lang="en-US" sz="14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HDOP</a:t>
            </a: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and </a:t>
            </a:r>
            <a:r>
              <a:rPr lang="en-US" sz="14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uptime</a:t>
            </a: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06045" y="3242310"/>
            <a:ext cx="402669" cy="402669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88079" y="3294519"/>
            <a:ext cx="238601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4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7954089" y="3303746"/>
            <a:ext cx="5634276" cy="496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Sender Successfully Transmits Live GPS Payloads Over LoRa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954089" y="3887867"/>
            <a:ext cx="5634276" cy="259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sender node is now transmitting live GPS payloads over </a:t>
            </a:r>
            <a:r>
              <a:rPr lang="en-US" sz="14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LoRa</a:t>
            </a: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reliably.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42035" y="4449008"/>
            <a:ext cx="402669" cy="402669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4069" y="4501217"/>
            <a:ext cx="238601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5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1590080" y="4510445"/>
            <a:ext cx="5634276" cy="496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Receiver Successfully Receives and Parses the Full Payload with RSSI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590080" y="5094565"/>
            <a:ext cx="5634276" cy="5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receiver node successfully receives, parses, and displays the full payload, including </a:t>
            </a:r>
            <a:r>
              <a:rPr lang="en-US" sz="14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RSSI</a:t>
            </a: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signal strength.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06045" y="4449008"/>
            <a:ext cx="402669" cy="402669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88079" y="4501217"/>
            <a:ext cx="238601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6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7954089" y="4510445"/>
            <a:ext cx="4414957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Receiver OLED Issue Identified and Bypassed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954089" y="4846082"/>
            <a:ext cx="5634276" cy="5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OLED output issue on the receiver was identified and bypassed; all data was verified through the </a:t>
            </a:r>
            <a:r>
              <a:rPr lang="en-US" sz="14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Serial Monitor</a:t>
            </a: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42035" y="5904190"/>
            <a:ext cx="402669" cy="402669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24069" y="5956399"/>
            <a:ext cx="238601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7</a:t>
            </a:r>
            <a:endParaRPr lang="en-US" sz="1850" dirty="0"/>
          </a:p>
        </p:txBody>
      </p:sp>
      <p:sp>
        <p:nvSpPr>
          <p:cNvPr id="30" name="Text 28"/>
          <p:cNvSpPr/>
          <p:nvPr/>
        </p:nvSpPr>
        <p:spPr>
          <a:xfrm>
            <a:off x="1590080" y="5965627"/>
            <a:ext cx="5017175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Firebase Realtime Database Selected and Initialized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1590080" y="6301264"/>
            <a:ext cx="5634276" cy="5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Firebase Realtime Database was chosen as the backend. Initial schema created for latest and history location records.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406045" y="5904190"/>
            <a:ext cx="402669" cy="402669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88079" y="5956399"/>
            <a:ext cx="238601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8</a:t>
            </a:r>
            <a:endParaRPr lang="en-US" sz="1850" dirty="0"/>
          </a:p>
        </p:txBody>
      </p:sp>
      <p:sp>
        <p:nvSpPr>
          <p:cNvPr id="34" name="Text 32"/>
          <p:cNvSpPr/>
          <p:nvPr/>
        </p:nvSpPr>
        <p:spPr>
          <a:xfrm>
            <a:off x="7954089" y="5965627"/>
            <a:ext cx="3080147" cy="248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Week 1 Deliverables Completed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7954089" y="6301264"/>
            <a:ext cx="5634276" cy="518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Firmware stabilization</a:t>
            </a: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wiring documentation, payload definition, backend choice, and initial schema setup have all been completed.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042035" y="6983730"/>
            <a:ext cx="12546330" cy="669727"/>
          </a:xfrm>
          <a:prstGeom prst="roundRect">
            <a:avLst>
              <a:gd name="adj" fmla="val 11225"/>
            </a:avLst>
          </a:prstGeom>
          <a:solidFill>
            <a:srgbClr val="183A13"/>
          </a:solidFill>
          <a:ln/>
        </p:spPr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986" y="7233523"/>
            <a:ext cx="223718" cy="178951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623655" y="7173754"/>
            <a:ext cx="11785759" cy="259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Milestone Status:</a:t>
            </a:r>
            <a:r>
              <a:rPr lang="en-US" sz="14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The core communication chain — GPS acquisition → LoRa transmission → receiver display — is fully operational and validated.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244" y="630436"/>
            <a:ext cx="5494377" cy="563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Challenges &amp; Next Steps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666036" y="1475184"/>
            <a:ext cx="6547723" cy="6123861"/>
          </a:xfrm>
          <a:prstGeom prst="roundRect">
            <a:avLst>
              <a:gd name="adj" fmla="val 2388"/>
            </a:avLst>
          </a:prstGeom>
          <a:solidFill>
            <a:srgbClr val="A95B95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69037" y="1662351"/>
            <a:ext cx="2685693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Challenges Faced So Far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5118" y="2164854"/>
            <a:ext cx="304562" cy="3045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28882" y="2154793"/>
            <a:ext cx="2293977" cy="1248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Difficulty identifying correct board settings and COM ports during initial setup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32898" y="2164854"/>
            <a:ext cx="304562" cy="3045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16661" y="2154793"/>
            <a:ext cx="2294096" cy="936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USB cable and hardware interfacing issues requiring troubleshooting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5118" y="3787914"/>
            <a:ext cx="304562" cy="3045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28882" y="3777853"/>
            <a:ext cx="2293977" cy="936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GPS fix acquisition required time and outdoor testing conditions</a:t>
            </a:r>
            <a:endParaRPr lang="en-US" sz="15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32898" y="3787914"/>
            <a:ext cx="304562" cy="30456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716661" y="3777853"/>
            <a:ext cx="2294096" cy="1248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Pin mapping and wiring between GPS module and LoRa board needed careful verification</a:t>
            </a:r>
            <a:endParaRPr lang="en-US" sz="15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5118" y="5410974"/>
            <a:ext cx="304562" cy="30456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28882" y="5400913"/>
            <a:ext cx="5481876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Receiver OLED initialization caused watchdog resets — receiver validation completed through Serial Monitor output instead</a:t>
            </a:r>
            <a:endParaRPr lang="en-US" sz="1550" dirty="0"/>
          </a:p>
        </p:txBody>
      </p:sp>
      <p:sp>
        <p:nvSpPr>
          <p:cNvPr id="15" name="Text 8"/>
          <p:cNvSpPr/>
          <p:nvPr/>
        </p:nvSpPr>
        <p:spPr>
          <a:xfrm>
            <a:off x="7570470" y="1662351"/>
            <a:ext cx="2256473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Next Steps</a:t>
            </a:r>
            <a:endParaRPr lang="en-US" sz="1750" dirty="0"/>
          </a:p>
        </p:txBody>
      </p:sp>
      <p:sp>
        <p:nvSpPr>
          <p:cNvPr id="16" name="Text 9"/>
          <p:cNvSpPr/>
          <p:nvPr/>
        </p:nvSpPr>
        <p:spPr>
          <a:xfrm>
            <a:off x="7570470" y="2154793"/>
            <a:ext cx="406122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01</a:t>
            </a:r>
            <a:endParaRPr lang="en-US" sz="1550" dirty="0"/>
          </a:p>
        </p:txBody>
      </p:sp>
      <p:sp>
        <p:nvSpPr>
          <p:cNvPr id="17" name="Shape 10"/>
          <p:cNvSpPr/>
          <p:nvPr/>
        </p:nvSpPr>
        <p:spPr>
          <a:xfrm>
            <a:off x="7570470" y="2477095"/>
            <a:ext cx="3034070" cy="2286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18" name="Text 11"/>
          <p:cNvSpPr/>
          <p:nvPr/>
        </p:nvSpPr>
        <p:spPr>
          <a:xfrm>
            <a:off x="7570470" y="2624257"/>
            <a:ext cx="3034070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Build the dashboard interface and backend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10791706" y="2154793"/>
            <a:ext cx="406122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02</a:t>
            </a:r>
            <a:endParaRPr lang="en-US" sz="1550" dirty="0"/>
          </a:p>
        </p:txBody>
      </p:sp>
      <p:sp>
        <p:nvSpPr>
          <p:cNvPr id="20" name="Shape 13"/>
          <p:cNvSpPr/>
          <p:nvPr/>
        </p:nvSpPr>
        <p:spPr>
          <a:xfrm>
            <a:off x="10791706" y="2477095"/>
            <a:ext cx="3034070" cy="2286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21" name="Text 14"/>
          <p:cNvSpPr/>
          <p:nvPr/>
        </p:nvSpPr>
        <p:spPr>
          <a:xfrm>
            <a:off x="10791706" y="2624257"/>
            <a:ext cx="3034070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Integrate Google Maps API for live visualization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7570470" y="3588068"/>
            <a:ext cx="406122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03</a:t>
            </a:r>
            <a:endParaRPr lang="en-US" sz="1550" dirty="0"/>
          </a:p>
        </p:txBody>
      </p:sp>
      <p:sp>
        <p:nvSpPr>
          <p:cNvPr id="23" name="Shape 16"/>
          <p:cNvSpPr/>
          <p:nvPr/>
        </p:nvSpPr>
        <p:spPr>
          <a:xfrm>
            <a:off x="7570470" y="3910370"/>
            <a:ext cx="3034070" cy="2286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24" name="Text 17"/>
          <p:cNvSpPr/>
          <p:nvPr/>
        </p:nvSpPr>
        <p:spPr>
          <a:xfrm>
            <a:off x="7570470" y="4057531"/>
            <a:ext cx="3034070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Implement real-time location updates on the dashboard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10791706" y="3588068"/>
            <a:ext cx="406122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04</a:t>
            </a:r>
            <a:endParaRPr lang="en-US" sz="1550" dirty="0"/>
          </a:p>
        </p:txBody>
      </p:sp>
      <p:sp>
        <p:nvSpPr>
          <p:cNvPr id="26" name="Shape 19"/>
          <p:cNvSpPr/>
          <p:nvPr/>
        </p:nvSpPr>
        <p:spPr>
          <a:xfrm>
            <a:off x="10791706" y="3910370"/>
            <a:ext cx="3034070" cy="2286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27" name="Text 20"/>
          <p:cNvSpPr/>
          <p:nvPr/>
        </p:nvSpPr>
        <p:spPr>
          <a:xfrm>
            <a:off x="10791706" y="4057531"/>
            <a:ext cx="3034070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Store coordinates with timestamps in a database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7570470" y="5021342"/>
            <a:ext cx="406122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9" name="Shape 22"/>
          <p:cNvSpPr/>
          <p:nvPr/>
        </p:nvSpPr>
        <p:spPr>
          <a:xfrm>
            <a:off x="7570470" y="5343644"/>
            <a:ext cx="3034070" cy="2286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30" name="Text 23"/>
          <p:cNvSpPr/>
          <p:nvPr/>
        </p:nvSpPr>
        <p:spPr>
          <a:xfrm>
            <a:off x="7570470" y="5490805"/>
            <a:ext cx="3034070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Implement the historical movement trail feature</a:t>
            </a:r>
            <a:endParaRPr lang="en-US" sz="1550" dirty="0"/>
          </a:p>
        </p:txBody>
      </p:sp>
      <p:sp>
        <p:nvSpPr>
          <p:cNvPr id="31" name="Text 24"/>
          <p:cNvSpPr/>
          <p:nvPr/>
        </p:nvSpPr>
        <p:spPr>
          <a:xfrm>
            <a:off x="10791706" y="5021342"/>
            <a:ext cx="406122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06</a:t>
            </a:r>
            <a:endParaRPr lang="en-US" sz="1550" dirty="0"/>
          </a:p>
        </p:txBody>
      </p:sp>
      <p:sp>
        <p:nvSpPr>
          <p:cNvPr id="32" name="Shape 25"/>
          <p:cNvSpPr/>
          <p:nvPr/>
        </p:nvSpPr>
        <p:spPr>
          <a:xfrm>
            <a:off x="10791706" y="5343644"/>
            <a:ext cx="3034070" cy="2286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33" name="Text 26"/>
          <p:cNvSpPr/>
          <p:nvPr/>
        </p:nvSpPr>
        <p:spPr>
          <a:xfrm>
            <a:off x="10791706" y="5490805"/>
            <a:ext cx="3034070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Measure system power behavior and consumption</a:t>
            </a:r>
            <a:endParaRPr lang="en-US" sz="1550" dirty="0"/>
          </a:p>
        </p:txBody>
      </p:sp>
      <p:sp>
        <p:nvSpPr>
          <p:cNvPr id="34" name="Text 27"/>
          <p:cNvSpPr/>
          <p:nvPr/>
        </p:nvSpPr>
        <p:spPr>
          <a:xfrm>
            <a:off x="7570470" y="6454616"/>
            <a:ext cx="406122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Light" pitchFamily="34" charset="0"/>
                <a:ea typeface="Prompt Light" pitchFamily="34" charset="-122"/>
                <a:cs typeface="Prompt Light" pitchFamily="34" charset="-120"/>
              </a:rPr>
              <a:t>07</a:t>
            </a:r>
            <a:endParaRPr lang="en-US" sz="1550" dirty="0"/>
          </a:p>
        </p:txBody>
      </p:sp>
      <p:sp>
        <p:nvSpPr>
          <p:cNvPr id="35" name="Shape 28"/>
          <p:cNvSpPr/>
          <p:nvPr/>
        </p:nvSpPr>
        <p:spPr>
          <a:xfrm>
            <a:off x="7570470" y="6776918"/>
            <a:ext cx="6255306" cy="22860"/>
          </a:xfrm>
          <a:prstGeom prst="rect">
            <a:avLst/>
          </a:prstGeom>
          <a:solidFill>
            <a:srgbClr val="A95B95"/>
          </a:solidFill>
          <a:ln/>
        </p:spPr>
      </p:sp>
      <p:sp>
        <p:nvSpPr>
          <p:cNvPr id="36" name="Text 29"/>
          <p:cNvSpPr/>
          <p:nvPr/>
        </p:nvSpPr>
        <p:spPr>
          <a:xfrm>
            <a:off x="7570470" y="6924080"/>
            <a:ext cx="6255306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Final integration, testing, and project demo preparation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7370" y="652582"/>
            <a:ext cx="4818936" cy="602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Conclusion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867370" y="1574959"/>
            <a:ext cx="12895659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Our project proposes a practical, well-validated IoT solution for asset tracking that balances performance, cost, and usability.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67370" y="2159079"/>
            <a:ext cx="6341150" cy="2430185"/>
          </a:xfrm>
          <a:prstGeom prst="roundRect">
            <a:avLst>
              <a:gd name="adj" fmla="val 3748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803" y="2383512"/>
            <a:ext cx="650558" cy="650558"/>
          </a:xfrm>
          <a:prstGeom prst="roundRect">
            <a:avLst>
              <a:gd name="adj" fmla="val 14054221"/>
            </a:avLst>
          </a:prstGeom>
          <a:solidFill>
            <a:srgbClr val="A95B9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754" y="2562344"/>
            <a:ext cx="292656" cy="292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1803" y="3247430"/>
            <a:ext cx="266497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Validated Core System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091803" y="3676650"/>
            <a:ext cx="5892284" cy="688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Live GPS acquisition, structured LoRa transmission, and receiver-side packet parsing have all been validated successfully.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421880" y="2159079"/>
            <a:ext cx="6341150" cy="2430185"/>
          </a:xfrm>
          <a:prstGeom prst="roundRect">
            <a:avLst>
              <a:gd name="adj" fmla="val 3748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46313" y="2383512"/>
            <a:ext cx="650558" cy="650558"/>
          </a:xfrm>
          <a:prstGeom prst="roundRect">
            <a:avLst>
              <a:gd name="adj" fmla="val 14054221"/>
            </a:avLst>
          </a:prstGeom>
          <a:solidFill>
            <a:srgbClr val="A95B9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5264" y="2562344"/>
            <a:ext cx="292656" cy="2926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6313" y="3247430"/>
            <a:ext cx="286119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Low-Cost &amp; Long-Range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7646313" y="3676650"/>
            <a:ext cx="5892284" cy="688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system is designed to be affordable and energy-efficient, suitable for real-world deployment and academic demonstration.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867370" y="4802624"/>
            <a:ext cx="6341150" cy="2774275"/>
          </a:xfrm>
          <a:prstGeom prst="roundRect">
            <a:avLst>
              <a:gd name="adj" fmla="val 328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91803" y="5027057"/>
            <a:ext cx="650558" cy="650558"/>
          </a:xfrm>
          <a:prstGeom prst="roundRect">
            <a:avLst>
              <a:gd name="adj" fmla="val 14054221"/>
            </a:avLst>
          </a:prstGeom>
          <a:solidFill>
            <a:srgbClr val="A95B9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754" y="5205889"/>
            <a:ext cx="292656" cy="2926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1803" y="5890974"/>
            <a:ext cx="240946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Next Milestone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1091803" y="6320195"/>
            <a:ext cx="5892284" cy="688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Dashboard integration and the historical movement trail are the immediate focus, bringing the system to full functionality.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7421880" y="4802624"/>
            <a:ext cx="6341150" cy="2774275"/>
          </a:xfrm>
          <a:prstGeom prst="roundRect">
            <a:avLst>
              <a:gd name="adj" fmla="val 3283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46313" y="5027057"/>
            <a:ext cx="650558" cy="650558"/>
          </a:xfrm>
          <a:prstGeom prst="roundRect">
            <a:avLst>
              <a:gd name="adj" fmla="val 14054221"/>
            </a:avLst>
          </a:prstGeom>
          <a:solidFill>
            <a:srgbClr val="A95B95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25264" y="5205889"/>
            <a:ext cx="292656" cy="2926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46313" y="5890974"/>
            <a:ext cx="240946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Final System Vision</a:t>
            </a:r>
            <a:endParaRPr lang="en-US" sz="1850" dirty="0"/>
          </a:p>
        </p:txBody>
      </p:sp>
      <p:sp>
        <p:nvSpPr>
          <p:cNvPr id="23" name="Text 17"/>
          <p:cNvSpPr/>
          <p:nvPr/>
        </p:nvSpPr>
        <p:spPr>
          <a:xfrm>
            <a:off x="7646313" y="6320195"/>
            <a:ext cx="5892284" cy="103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 completed prototype will provide both </a:t>
            </a: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live tracking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and </a:t>
            </a: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movement history visualization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through an intuitive web dashboard.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542C4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4133" y="165140"/>
            <a:ext cx="5266134" cy="78992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1063" y="1293733"/>
            <a:ext cx="7381875" cy="1223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600"/>
              </a:lnSpc>
              <a:buNone/>
            </a:pPr>
            <a:r>
              <a:rPr lang="en-US" sz="77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Thank You</a:t>
            </a:r>
            <a:endParaRPr lang="en-US" sz="7700" dirty="0"/>
          </a:p>
        </p:txBody>
      </p:sp>
      <p:sp>
        <p:nvSpPr>
          <p:cNvPr id="5" name="Text 2"/>
          <p:cNvSpPr/>
          <p:nvPr/>
        </p:nvSpPr>
        <p:spPr>
          <a:xfrm>
            <a:off x="2613779" y="2847856"/>
            <a:ext cx="3916323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30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Questions?</a:t>
            </a:r>
            <a:endParaRPr lang="en-US" sz="3050" dirty="0"/>
          </a:p>
        </p:txBody>
      </p:sp>
      <p:sp>
        <p:nvSpPr>
          <p:cNvPr id="6" name="Shape 3"/>
          <p:cNvSpPr/>
          <p:nvPr/>
        </p:nvSpPr>
        <p:spPr>
          <a:xfrm>
            <a:off x="881063" y="3722727"/>
            <a:ext cx="7381875" cy="16431"/>
          </a:xfrm>
          <a:prstGeom prst="rect">
            <a:avLst/>
          </a:prstGeom>
          <a:solidFill>
            <a:srgbClr val="DAD8E9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881063" y="4262199"/>
            <a:ext cx="2646640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Team — IoT Innovators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81063" y="4788456"/>
            <a:ext cx="3422213" cy="2070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Adam Amr — 55-4111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Kareem Emad — 55-4357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George Ehab — 55-25881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Farah Khaled — 55-5083</a:t>
            </a:r>
            <a:endParaRPr lang="en-US" sz="170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Rahma Mohamed — 55-23548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848344" y="4262199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Project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848344" y="4788456"/>
            <a:ext cx="3422213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IoT-Based Asset Tracking System Using LoRa and GPS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848344" y="5691545"/>
            <a:ext cx="3422213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Course: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Internet of Things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848344" y="6242209"/>
            <a:ext cx="3422213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Instructor:</a:t>
            </a:r>
            <a:r>
              <a:rPr lang="en-US" sz="17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Dr. Tallal El Shabrawy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1328</Words>
  <Application>Microsoft Office PowerPoint</Application>
  <PresentationFormat>Custom</PresentationFormat>
  <Paragraphs>186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Mukta Light</vt:lpstr>
      <vt:lpstr>Prompt Light</vt:lpstr>
      <vt:lpstr>Arial</vt:lpstr>
      <vt:lpstr>Prompt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Adam Amr Mongy</cp:lastModifiedBy>
  <cp:revision>1</cp:revision>
  <dcterms:created xsi:type="dcterms:W3CDTF">2026-04-29T17:25:17Z</dcterms:created>
  <dcterms:modified xsi:type="dcterms:W3CDTF">2026-04-29T18:43:59Z</dcterms:modified>
</cp:coreProperties>
</file>