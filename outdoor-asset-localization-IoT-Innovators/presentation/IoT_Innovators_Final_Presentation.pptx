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Prata" panose="020B0604020202020204" charset="0"/>
      <p:regular r:id="rId29"/>
    </p:embeddedFont>
    <p:embeddedFont>
      <p:font typeface="Raleway" pitchFamily="2" charset="0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562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10" Type="http://schemas.openxmlformats.org/officeDocument/2006/relationships/image" Target="../media/image25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77640"/>
            <a:ext cx="451068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Outdoor Asset Localization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914748"/>
            <a:ext cx="340526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IoT-Based GPS + LoRa Tracking System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2294632"/>
            <a:ext cx="4722763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Team: IoT Innovators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Adam Amr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55-4111  | 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Kareem Emad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55-4357  | 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George Ehab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55-25881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Farah Khaled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55-5083  | 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Rahma Mohamed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55-23548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Course: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NETW1010 — Internet of Things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 |  Dr.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Tallal El Shabrawy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8919" y="3507060"/>
            <a:ext cx="47227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833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Idea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051917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built an IoT system that tracks outdoor assets in real time. End-to-end flow: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389906"/>
            <a:ext cx="620167" cy="7442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0259" y="151388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GPS Sender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240259" y="1782142"/>
            <a:ext cx="3978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Collects asset coordinates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134121"/>
            <a:ext cx="620167" cy="7442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0259" y="225809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LoRa Transmission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240259" y="2526357"/>
            <a:ext cx="3978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Sends coordinates long range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878336"/>
            <a:ext cx="620167" cy="7442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40259" y="300231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Receiver Gateway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240259" y="3270572"/>
            <a:ext cx="3978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Forwards data to Firebase via MQTT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622551"/>
            <a:ext cx="620167" cy="74421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40259" y="374652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240259" y="4014788"/>
            <a:ext cx="3978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Shows location, history, geofence, battery, and health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38919" y="4506292"/>
            <a:ext cx="47227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428699"/>
            <a:ext cx="3351312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&amp; Motivation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55997" y="910307"/>
            <a:ext cx="4161755" cy="3567485"/>
          </a:xfrm>
          <a:prstGeom prst="roundRect">
            <a:avLst>
              <a:gd name="adj" fmla="val 456"/>
            </a:avLst>
          </a:prstGeom>
          <a:solidFill>
            <a:srgbClr val="EEE27D"/>
          </a:solidFill>
          <a:ln/>
        </p:spPr>
      </p:sp>
      <p:sp>
        <p:nvSpPr>
          <p:cNvPr id="4" name="Text 2"/>
          <p:cNvSpPr/>
          <p:nvPr/>
        </p:nvSpPr>
        <p:spPr>
          <a:xfrm>
            <a:off x="464493" y="1005260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64493" y="1269727"/>
            <a:ext cx="3944764" cy="610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Outdoor assets travel across large areas where WiFi is often unavailable. Traditional tracking depends on connectivity that may not exist in the field.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4493" y="1965499"/>
            <a:ext cx="3944764" cy="676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WiFi in open terrain</a:t>
            </a:r>
            <a:endParaRPr lang="en-US" sz="8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 cellular power use</a:t>
            </a:r>
            <a:endParaRPr lang="en-US" sz="8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Limited Bluetooth and Zigbee range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09145" y="1005260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LoRa?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09145" y="1269727"/>
            <a:ext cx="443485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LoRa is ideal here because it is built for low-power, long-range communication.</a:t>
            </a:r>
            <a:endParaRPr lang="en-US" sz="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9145" y="1539329"/>
            <a:ext cx="271314" cy="2713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45" y="1929333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Long Range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09145" y="2193801"/>
            <a:ext cx="400548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Kilometers of coverage</a:t>
            </a:r>
            <a:endParaRPr lang="en-US" sz="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9145" y="2546524"/>
            <a:ext cx="271314" cy="2713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45" y="2936528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Low Power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09145" y="3200995"/>
            <a:ext cx="400548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Battery life for extended use</a:t>
            </a:r>
            <a:endParaRPr lang="en-US" sz="8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9145" y="3553718"/>
            <a:ext cx="271314" cy="2713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9145" y="3943722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 WiFi Needed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709145" y="4208190"/>
            <a:ext cx="400548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Works without internet infrastructure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0" y="4584576"/>
            <a:ext cx="829880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59941"/>
            <a:ext cx="4238625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Final 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8379" y="981819"/>
            <a:ext cx="86244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Sender stays GPS + LoRa only for low power use. The Receiver handles WiFi, MQTT, and internet connectivity.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4638" y="1310878"/>
            <a:ext cx="5654650" cy="3182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179" y="4628480"/>
            <a:ext cx="8167241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08074"/>
            <a:ext cx="3572768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Hardware Components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41871" y="850106"/>
            <a:ext cx="8260259" cy="662806"/>
          </a:xfrm>
          <a:prstGeom prst="roundRect">
            <a:avLst>
              <a:gd name="adj" fmla="val 2500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6158" y="864394"/>
            <a:ext cx="441871" cy="634231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5" name="Text 3"/>
          <p:cNvSpPr/>
          <p:nvPr/>
        </p:nvSpPr>
        <p:spPr>
          <a:xfrm>
            <a:off x="594271" y="1077962"/>
            <a:ext cx="16564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6404" y="974824"/>
            <a:ext cx="1488802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NEO-6M GPS Module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96404" y="1206475"/>
            <a:ext cx="758100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Collects location, time, satellites, and HDOP.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1871" y="1611288"/>
            <a:ext cx="8260259" cy="662806"/>
          </a:xfrm>
          <a:prstGeom prst="roundRect">
            <a:avLst>
              <a:gd name="adj" fmla="val 2500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158" y="1625575"/>
            <a:ext cx="441871" cy="634231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10" name="Text 8"/>
          <p:cNvSpPr/>
          <p:nvPr/>
        </p:nvSpPr>
        <p:spPr>
          <a:xfrm>
            <a:off x="594271" y="1839144"/>
            <a:ext cx="16564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6404" y="1736006"/>
            <a:ext cx="149996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TTGO LoRa32 Sender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96404" y="1967657"/>
            <a:ext cx="758100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Reads GPS data and sends LoRa packets from the asset.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1871" y="2372469"/>
            <a:ext cx="8260259" cy="662806"/>
          </a:xfrm>
          <a:prstGeom prst="roundRect">
            <a:avLst>
              <a:gd name="adj" fmla="val 2500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158" y="2386757"/>
            <a:ext cx="441871" cy="634231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271" y="2600325"/>
            <a:ext cx="16564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6404" y="2497187"/>
            <a:ext cx="1595363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TTGO LoRa32 Receiver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96404" y="2728838"/>
            <a:ext cx="758100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Receives LoRa packets and publishes them to MQTT via WiFi.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1871" y="3133651"/>
            <a:ext cx="8260259" cy="662806"/>
          </a:xfrm>
          <a:prstGeom prst="roundRect">
            <a:avLst>
              <a:gd name="adj" fmla="val 2500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158" y="3147938"/>
            <a:ext cx="441871" cy="634231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271" y="3361506"/>
            <a:ext cx="16564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6404" y="3258369"/>
            <a:ext cx="13809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Battery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6404" y="3490020"/>
            <a:ext cx="758100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Powers the sender node in the field.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1871" y="3894832"/>
            <a:ext cx="8260259" cy="662806"/>
          </a:xfrm>
          <a:prstGeom prst="roundRect">
            <a:avLst>
              <a:gd name="adj" fmla="val 2500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6158" y="3909120"/>
            <a:ext cx="441871" cy="634231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271" y="4122688"/>
            <a:ext cx="16564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6404" y="4019550"/>
            <a:ext cx="13809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Laptop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6404" y="4251201"/>
            <a:ext cx="758100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Runs the Python backend and live tracking dashboard.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0" y="4668292"/>
            <a:ext cx="8275588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685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Sender Node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13967"/>
            <a:ext cx="333769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Role: Field Device on the Moving Asset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99385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sender is mounted on the moving asset. It reads GPS data via UART, builds a CSV payload, and transmits it over LoRa.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331839"/>
            <a:ext cx="1373907" cy="233214"/>
          </a:xfrm>
          <a:prstGeom prst="roundRect">
            <a:avLst>
              <a:gd name="adj" fmla="val 6383"/>
            </a:avLst>
          </a:prstGeom>
          <a:solidFill>
            <a:srgbClr val="443D09"/>
          </a:solidFill>
          <a:ln/>
        </p:spPr>
      </p:sp>
      <p:sp>
        <p:nvSpPr>
          <p:cNvPr id="6" name="Text 4"/>
          <p:cNvSpPr/>
          <p:nvPr/>
        </p:nvSpPr>
        <p:spPr>
          <a:xfrm>
            <a:off x="570533" y="2369046"/>
            <a:ext cx="1682279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SENDER FEATURES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96119" y="2704579"/>
            <a:ext cx="8151763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OLED display to save power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Multi-asset ID switching for simulation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Battery voltage included in payload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Power-tuned transmit intervals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919" y="3768105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8000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Receiver / Gateway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4357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receiver bridges the field and the cloud, removing the need for a COM-port serial bridge in the final architecture.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21818"/>
            <a:ext cx="123974" cy="12397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078013"/>
            <a:ext cx="1944960" cy="142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2168575"/>
            <a:ext cx="175021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Listen for LoRa Packets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96119" y="2436837"/>
            <a:ext cx="194496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Monitors the LoRa channel for incoming sender transmissions.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5053" y="1921818"/>
            <a:ext cx="123974" cy="12397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053" y="2078013"/>
            <a:ext cx="1944960" cy="142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565053" y="216857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Parse CSV Payload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2565053" y="2436837"/>
            <a:ext cx="194496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Splits the CSV string and extracts the GPS fields.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3987" y="1921818"/>
            <a:ext cx="123974" cy="123974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987" y="2078013"/>
            <a:ext cx="1944960" cy="1428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633987" y="2168575"/>
            <a:ext cx="19154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Add RSSI &amp; Packet Count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4633987" y="2436837"/>
            <a:ext cx="194496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Appends signal strength and packet counter metadata.</a:t>
            </a:r>
            <a:endParaRPr lang="en-US" sz="9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2921" y="1921818"/>
            <a:ext cx="123974" cy="123974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921" y="2078013"/>
            <a:ext cx="1944960" cy="1428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702921" y="216857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Convert to JSON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6702921" y="2436837"/>
            <a:ext cx="194496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Formats the data as JSON for MQTT publishing.</a:t>
            </a:r>
            <a:endParaRPr lang="en-US" sz="9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66231"/>
            <a:ext cx="123974" cy="123974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3234779"/>
            <a:ext cx="8151763" cy="1428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496119" y="3337768"/>
            <a:ext cx="23379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Connect WiFi &amp; Publish MQTT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496119" y="3606031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Joins WiFi and publishes to the MQTT broker.</a:t>
            </a:r>
            <a:endParaRPr lang="en-US" sz="950" dirty="0"/>
          </a:p>
        </p:txBody>
      </p:sp>
      <p:sp>
        <p:nvSpPr>
          <p:cNvPr id="24" name="Text 12"/>
          <p:cNvSpPr/>
          <p:nvPr/>
        </p:nvSpPr>
        <p:spPr>
          <a:xfrm>
            <a:off x="38919" y="4037037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7827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Payload Format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281410"/>
            <a:ext cx="4103191" cy="2855937"/>
          </a:xfrm>
          <a:prstGeom prst="roundRect">
            <a:avLst>
              <a:gd name="adj" fmla="val 652"/>
            </a:avLst>
          </a:prstGeom>
          <a:solidFill>
            <a:srgbClr val="EEE27D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405384"/>
            <a:ext cx="283160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Original Payload (Early Version)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796" y="1738759"/>
            <a:ext cx="3855244" cy="843335"/>
          </a:xfrm>
          <a:prstGeom prst="roundRect">
            <a:avLst>
              <a:gd name="adj" fmla="val 2206"/>
            </a:avLst>
          </a:prstGeom>
          <a:solidFill>
            <a:srgbClr val="E1D570"/>
          </a:solidFill>
          <a:ln/>
        </p:spPr>
      </p:sp>
      <p:sp>
        <p:nvSpPr>
          <p:cNvPr id="6" name="Shape 4"/>
          <p:cNvSpPr/>
          <p:nvPr/>
        </p:nvSpPr>
        <p:spPr>
          <a:xfrm>
            <a:off x="524619" y="1738759"/>
            <a:ext cx="3867596" cy="843335"/>
          </a:xfrm>
          <a:prstGeom prst="roundRect">
            <a:avLst>
              <a:gd name="adj" fmla="val 2206"/>
            </a:avLst>
          </a:prstGeom>
          <a:solidFill>
            <a:srgbClr val="E1D570"/>
          </a:solidFill>
          <a:ln/>
        </p:spPr>
      </p:sp>
      <p:sp>
        <p:nvSpPr>
          <p:cNvPr id="7" name="Text 5"/>
          <p:cNvSpPr/>
          <p:nvPr/>
        </p:nvSpPr>
        <p:spPr>
          <a:xfrm>
            <a:off x="679624" y="1862733"/>
            <a:ext cx="355758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deviceID,fix,latitude,longitude,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timestamp_utc,satellites,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hdop,uptime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2721620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Basic GPS fix and position fields.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1405384"/>
            <a:ext cx="20512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Final Week 4 Payload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8046" y="1738759"/>
            <a:ext cx="3924598" cy="843335"/>
          </a:xfrm>
          <a:prstGeom prst="roundRect">
            <a:avLst>
              <a:gd name="adj" fmla="val 2206"/>
            </a:avLst>
          </a:prstGeom>
          <a:solidFill>
            <a:srgbClr val="28292A"/>
          </a:solidFill>
          <a:ln/>
        </p:spPr>
      </p:sp>
      <p:sp>
        <p:nvSpPr>
          <p:cNvPr id="11" name="Shape 9"/>
          <p:cNvSpPr/>
          <p:nvPr/>
        </p:nvSpPr>
        <p:spPr>
          <a:xfrm>
            <a:off x="4721870" y="1738759"/>
            <a:ext cx="3936950" cy="843335"/>
          </a:xfrm>
          <a:prstGeom prst="roundRect">
            <a:avLst>
              <a:gd name="adj" fmla="val 2206"/>
            </a:avLst>
          </a:prstGeom>
          <a:solidFill>
            <a:srgbClr val="28292A"/>
          </a:solidFill>
          <a:ln/>
        </p:spPr>
      </p:sp>
      <p:sp>
        <p:nvSpPr>
          <p:cNvPr id="12" name="Text 10"/>
          <p:cNvSpPr/>
          <p:nvPr/>
        </p:nvSpPr>
        <p:spPr>
          <a:xfrm>
            <a:off x="4876874" y="1862733"/>
            <a:ext cx="3626941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deviceID,fix,latitude,longitude,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timestamp_utc,satellites,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hdop,uptime,battery_voltage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28046" y="2721620"/>
            <a:ext cx="4381798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Added </a:t>
            </a:r>
            <a:r>
              <a:rPr lang="en-US" sz="9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battery_voltage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 monitor power behavior.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28046" y="3064371"/>
            <a:ext cx="3924598" cy="933450"/>
          </a:xfrm>
          <a:prstGeom prst="roundRect">
            <a:avLst>
              <a:gd name="adj" fmla="val 1993"/>
            </a:avLst>
          </a:prstGeom>
          <a:solidFill>
            <a:srgbClr val="183A13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248918"/>
            <a:ext cx="155004" cy="12397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30998" y="3219301"/>
            <a:ext cx="3397672" cy="60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example: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ASSET-03,1,29.992250,31.555190,2026-05-24T19:53:12Z,5,2.4,807,3.84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8919" y="4276874"/>
            <a:ext cx="81517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58155"/>
            <a:ext cx="3971032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MQTT + Firebase Backend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4132" y="934715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MQTT Topic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34132" y="1211014"/>
            <a:ext cx="4005486" cy="379809"/>
          </a:xfrm>
          <a:prstGeom prst="roundRect">
            <a:avLst>
              <a:gd name="adj" fmla="val 4287"/>
            </a:avLst>
          </a:prstGeom>
          <a:solidFill>
            <a:srgbClr val="28292A"/>
          </a:solidFill>
          <a:ln/>
        </p:spPr>
      </p:sp>
      <p:sp>
        <p:nvSpPr>
          <p:cNvPr id="5" name="Shape 3"/>
          <p:cNvSpPr/>
          <p:nvPr/>
        </p:nvSpPr>
        <p:spPr>
          <a:xfrm>
            <a:off x="428774" y="1211014"/>
            <a:ext cx="4016201" cy="379809"/>
          </a:xfrm>
          <a:prstGeom prst="roundRect">
            <a:avLst>
              <a:gd name="adj" fmla="val 4287"/>
            </a:avLst>
          </a:prstGeom>
          <a:solidFill>
            <a:srgbClr val="28292A"/>
          </a:solidFill>
          <a:ln/>
        </p:spPr>
      </p:sp>
      <p:sp>
        <p:nvSpPr>
          <p:cNvPr id="6" name="Text 4"/>
          <p:cNvSpPr/>
          <p:nvPr/>
        </p:nvSpPr>
        <p:spPr>
          <a:xfrm>
            <a:off x="564431" y="1319510"/>
            <a:ext cx="42020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iot-innovators/assets/all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4132" y="1697608"/>
            <a:ext cx="400548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Python backend subscribes to this topic and validates each incoming message.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836" y="2133340"/>
            <a:ext cx="162744" cy="162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780" y="2130028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Subscribe to MQTT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6780" y="2394496"/>
            <a:ext cx="365283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Listens for JSON messages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836" y="2750530"/>
            <a:ext cx="162744" cy="162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780" y="2747218"/>
            <a:ext cx="137413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Validate &amp; Normalize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86780" y="3011686"/>
            <a:ext cx="365283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Standardizes fields and formats</a:t>
            </a:r>
            <a:endParaRPr lang="en-US" sz="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836" y="3367720"/>
            <a:ext cx="162744" cy="162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6780" y="3364409"/>
            <a:ext cx="1554361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Compute Battery Status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786780" y="3628876"/>
            <a:ext cx="365283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Derives NORMAL, LOW, or CRITICAL</a:t>
            </a:r>
            <a:endParaRPr lang="en-US" sz="8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836" y="3984910"/>
            <a:ext cx="162744" cy="162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6780" y="3981599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Upload to Firebase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786780" y="4246066"/>
            <a:ext cx="365283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Writes latest and history paths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4709145" y="934715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Firebase Data Paths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709145" y="1211014"/>
            <a:ext cx="4005486" cy="587350"/>
          </a:xfrm>
          <a:prstGeom prst="roundRect">
            <a:avLst>
              <a:gd name="adj" fmla="val 2772"/>
            </a:avLst>
          </a:prstGeom>
          <a:solidFill>
            <a:srgbClr val="022349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641" y="1370707"/>
            <a:ext cx="135657" cy="1084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61793" y="1333054"/>
            <a:ext cx="354434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Latest position:</a:t>
            </a:r>
            <a:endParaRPr lang="en-US" sz="8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assets/&lt;deviceID&gt;/latest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4709145" y="1905149"/>
            <a:ext cx="4005486" cy="587350"/>
          </a:xfrm>
          <a:prstGeom prst="roundRect">
            <a:avLst>
              <a:gd name="adj" fmla="val 2772"/>
            </a:avLst>
          </a:prstGeom>
          <a:solidFill>
            <a:srgbClr val="443D09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641" y="2064841"/>
            <a:ext cx="135657" cy="1084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61793" y="2027188"/>
            <a:ext cx="354434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History trail:</a:t>
            </a:r>
            <a:endParaRPr lang="en-US" sz="8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assets/&lt;deviceID&gt;/history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4709145" y="2599283"/>
            <a:ext cx="443485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structure supports live updates and historical tracking at the same time.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0" y="4622453"/>
            <a:ext cx="829880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65373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Dashboard V2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938957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V2 uses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Leaflet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and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OpenStreetMap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an open-source, reliable, billing-free interface. It is the primary stable view for the system.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475408"/>
            <a:ext cx="2299395" cy="1440210"/>
          </a:xfrm>
          <a:prstGeom prst="roundRect">
            <a:avLst>
              <a:gd name="adj" fmla="val 1292"/>
            </a:avLst>
          </a:prstGeom>
          <a:solidFill>
            <a:srgbClr val="3A3B3C"/>
          </a:solidFill>
          <a:ln/>
        </p:spPr>
      </p:sp>
      <p:sp>
        <p:nvSpPr>
          <p:cNvPr id="6" name="Text 3"/>
          <p:cNvSpPr/>
          <p:nvPr/>
        </p:nvSpPr>
        <p:spPr>
          <a:xfrm>
            <a:off x="4049092" y="159938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Tracking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49092" y="1867644"/>
            <a:ext cx="2051447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map marker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GPS status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Coordinates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UTC time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348487" y="1475408"/>
            <a:ext cx="2299395" cy="1440210"/>
          </a:xfrm>
          <a:prstGeom prst="roundRect">
            <a:avLst>
              <a:gd name="adj" fmla="val 1292"/>
            </a:avLst>
          </a:prstGeom>
          <a:solidFill>
            <a:srgbClr val="3A3B3C"/>
          </a:solidFill>
          <a:ln/>
        </p:spPr>
      </p:sp>
      <p:sp>
        <p:nvSpPr>
          <p:cNvPr id="9" name="Text 6"/>
          <p:cNvSpPr/>
          <p:nvPr/>
        </p:nvSpPr>
        <p:spPr>
          <a:xfrm>
            <a:off x="6472461" y="159938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Signal &amp; Power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72461" y="1867644"/>
            <a:ext cx="2051447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RSSI strength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Battery voltage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Battery label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Asset status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25119" y="3039591"/>
            <a:ext cx="4722763" cy="1440210"/>
          </a:xfrm>
          <a:prstGeom prst="roundRect">
            <a:avLst>
              <a:gd name="adj" fmla="val 1292"/>
            </a:avLst>
          </a:prstGeom>
          <a:solidFill>
            <a:srgbClr val="3A3B3C"/>
          </a:solidFill>
          <a:ln/>
        </p:spPr>
      </p:sp>
      <p:sp>
        <p:nvSpPr>
          <p:cNvPr id="12" name="Text 9"/>
          <p:cNvSpPr/>
          <p:nvPr/>
        </p:nvSpPr>
        <p:spPr>
          <a:xfrm>
            <a:off x="4049092" y="316356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Advanced Features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49092" y="3431828"/>
            <a:ext cx="4474815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Geofence zone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History trail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Transmission health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Asset dropdown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467919" y="4619327"/>
            <a:ext cx="47227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73473"/>
            <a:ext cx="417202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Google Maps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10581"/>
            <a:ext cx="298750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Google Maps API 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29046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Google Maps API version was also implemented to meet the requirement. It mirrors Dashboard V2 with the familiar Google Maps interface.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628454"/>
            <a:ext cx="1944960" cy="743248"/>
          </a:xfrm>
          <a:prstGeom prst="roundRect">
            <a:avLst>
              <a:gd name="adj" fmla="val 2503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380" y="27667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Marker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380" y="3034978"/>
            <a:ext cx="1668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position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5053" y="2628454"/>
            <a:ext cx="1944960" cy="743248"/>
          </a:xfrm>
          <a:prstGeom prst="roundRect">
            <a:avLst>
              <a:gd name="adj" fmla="val 2503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3314" y="27667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History Trail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03314" y="3034978"/>
            <a:ext cx="1668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Movement path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3987" y="2628454"/>
            <a:ext cx="1944960" cy="743248"/>
          </a:xfrm>
          <a:prstGeom prst="roundRect">
            <a:avLst>
              <a:gd name="adj" fmla="val 2503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2248" y="27667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Geofence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2248" y="3034978"/>
            <a:ext cx="1668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Circular zone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02921" y="2628454"/>
            <a:ext cx="1944960" cy="743248"/>
          </a:xfrm>
          <a:prstGeom prst="roundRect">
            <a:avLst>
              <a:gd name="adj" fmla="val 2503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1182" y="27667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Battery &amp; Health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41182" y="3034978"/>
            <a:ext cx="1668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 and status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919" y="3511228"/>
            <a:ext cx="81517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344" y="213717"/>
            <a:ext cx="2346945" cy="2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Geofence Feature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44" y="570830"/>
            <a:ext cx="4177457" cy="41774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8962" y="565100"/>
            <a:ext cx="2039466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Circular Geofence Implementation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8962" y="729258"/>
            <a:ext cx="4177457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implemented a circular geofence directly in the dashboard. The system continuously checks the asset’s GPS position against the zone center.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8962" y="975717"/>
            <a:ext cx="4177457" cy="825103"/>
          </a:xfrm>
          <a:prstGeom prst="roundRect">
            <a:avLst>
              <a:gd name="adj" fmla="val 1374"/>
            </a:avLst>
          </a:prstGeom>
          <a:solidFill>
            <a:srgbClr val="3A3B3C"/>
          </a:solidFill>
          <a:ln/>
        </p:spPr>
      </p:sp>
      <p:sp>
        <p:nvSpPr>
          <p:cNvPr id="7" name="Shape 4"/>
          <p:cNvSpPr/>
          <p:nvPr/>
        </p:nvSpPr>
        <p:spPr>
          <a:xfrm>
            <a:off x="4668962" y="975717"/>
            <a:ext cx="4177457" cy="412552"/>
          </a:xfrm>
          <a:prstGeom prst="roundRect">
            <a:avLst>
              <a:gd name="adj" fmla="val 2748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4744492" y="1051247"/>
            <a:ext cx="94483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✅</a:t>
            </a:r>
            <a:r>
              <a:rPr lang="en-US" sz="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Inside Zone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744492" y="1215405"/>
            <a:ext cx="4026396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Asset is within the radius — green status shown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4668962" y="1388269"/>
            <a:ext cx="4177457" cy="412552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11" name="Shape 8"/>
          <p:cNvSpPr/>
          <p:nvPr/>
        </p:nvSpPr>
        <p:spPr>
          <a:xfrm>
            <a:off x="4668962" y="1388269"/>
            <a:ext cx="4177457" cy="9525"/>
          </a:xfrm>
          <a:prstGeom prst="roundRect">
            <a:avLst>
              <a:gd name="adj" fmla="val 119041"/>
            </a:avLst>
          </a:prstGeom>
          <a:solidFill>
            <a:srgbClr val="535455"/>
          </a:solidFill>
          <a:ln/>
        </p:spPr>
      </p:sp>
      <p:sp>
        <p:nvSpPr>
          <p:cNvPr id="12" name="Text 9"/>
          <p:cNvSpPr/>
          <p:nvPr/>
        </p:nvSpPr>
        <p:spPr>
          <a:xfrm>
            <a:off x="4744492" y="1463799"/>
            <a:ext cx="94483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⚠️</a:t>
            </a:r>
            <a:r>
              <a:rPr lang="en-US" sz="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Outside Zone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744492" y="1627956"/>
            <a:ext cx="4026396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Asset crosses the boundary — warning alert triggers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4668962" y="1852613"/>
            <a:ext cx="4475038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geofence radius and center are configurable for any site perimeter.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0" y="4851871"/>
            <a:ext cx="8694167" cy="77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7000"/>
              </a:lnSpc>
              <a:buNone/>
            </a:pPr>
            <a:r>
              <a:rPr lang="en-US" sz="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487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History Trail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348457"/>
            <a:ext cx="4103191" cy="2682106"/>
          </a:xfrm>
          <a:prstGeom prst="roundRect">
            <a:avLst>
              <a:gd name="adj" fmla="val 694"/>
            </a:avLst>
          </a:prstGeom>
          <a:solidFill>
            <a:srgbClr val="EEE27D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472431"/>
            <a:ext cx="20949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Firebase Storage Path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796" y="1805806"/>
            <a:ext cx="3855244" cy="446410"/>
          </a:xfrm>
          <a:prstGeom prst="roundRect">
            <a:avLst>
              <a:gd name="adj" fmla="val 4168"/>
            </a:avLst>
          </a:prstGeom>
          <a:solidFill>
            <a:srgbClr val="E1D570"/>
          </a:solidFill>
          <a:ln/>
        </p:spPr>
      </p:sp>
      <p:sp>
        <p:nvSpPr>
          <p:cNvPr id="6" name="Shape 4"/>
          <p:cNvSpPr/>
          <p:nvPr/>
        </p:nvSpPr>
        <p:spPr>
          <a:xfrm>
            <a:off x="524619" y="1805806"/>
            <a:ext cx="3867596" cy="446410"/>
          </a:xfrm>
          <a:prstGeom prst="roundRect">
            <a:avLst>
              <a:gd name="adj" fmla="val 4168"/>
            </a:avLst>
          </a:prstGeom>
          <a:solidFill>
            <a:srgbClr val="E1D570"/>
          </a:solidFill>
          <a:ln/>
        </p:spPr>
      </p:sp>
      <p:sp>
        <p:nvSpPr>
          <p:cNvPr id="7" name="Text 5"/>
          <p:cNvSpPr/>
          <p:nvPr/>
        </p:nvSpPr>
        <p:spPr>
          <a:xfrm>
            <a:off x="679624" y="1929780"/>
            <a:ext cx="40147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E1D57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assets/&lt;deviceID&gt;/history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2391742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GPS record is appended to Firebase, creating a time-ordered history of positions.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796" y="2928193"/>
            <a:ext cx="3855244" cy="725463"/>
          </a:xfrm>
          <a:prstGeom prst="roundRect">
            <a:avLst>
              <a:gd name="adj" fmla="val 2565"/>
            </a:avLst>
          </a:prstGeom>
          <a:solidFill>
            <a:srgbClr val="02234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69" y="3112740"/>
            <a:ext cx="155004" cy="1239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3748" y="3083123"/>
            <a:ext cx="332831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dashboard uses the latest records to draw a connected polyline on the map.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28046" y="1472431"/>
            <a:ext cx="20474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the Trail Shows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28046" y="1790254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history trail helps operators understand asset behavior over time.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28046" y="232670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4555" y="2373176"/>
            <a:ext cx="186035" cy="1860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31073" y="2369344"/>
            <a:ext cx="14817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Movement Path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131073" y="2687166"/>
            <a:ext cx="14817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Connected line of recorded positions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767810" y="232670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4319" y="2373176"/>
            <a:ext cx="186035" cy="1860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70837" y="2369344"/>
            <a:ext cx="14818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Time Context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170837" y="2687166"/>
            <a:ext cx="14818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point includes a UTC timestamp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28046" y="3332113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4555" y="3378584"/>
            <a:ext cx="186035" cy="1860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31073" y="337475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Route Replay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131073" y="3692575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where the asset traveled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8919" y="4170090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3084"/>
            <a:ext cx="765400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Week 4 Additional Feature: Transmission Health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18654"/>
            <a:ext cx="860896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dashboard analyzes </a:t>
            </a:r>
            <a:r>
              <a:rPr lang="en-US" sz="9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packet_count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values from Firebase history to detect data gaps in the LoRa/MQTT pipeline.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423392"/>
            <a:ext cx="2613868" cy="272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Latest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7733" y="18512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Packet Number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119536"/>
            <a:ext cx="261386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 recent packet count from Firebase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64991" y="1423392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796680" y="198774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Records Checked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64991" y="2256011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History entries analyzed for gaps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33939" y="1423392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Δ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65627" y="198774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Missing Packets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3939" y="2256011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Detected sequence gaps in the stream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64991" y="2764482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96680" y="332883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Health Status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991" y="3597101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Overall status: GOOD, DEGRADED, or POOR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935090"/>
            <a:ext cx="8151763" cy="527000"/>
          </a:xfrm>
          <a:prstGeom prst="roundRect">
            <a:avLst>
              <a:gd name="adj" fmla="val 3531"/>
            </a:avLst>
          </a:prstGeom>
          <a:solidFill>
            <a:srgbClr val="443D09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119637"/>
            <a:ext cx="155004" cy="12397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99071" y="4090020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Transmission Health helps detect LoRa/MQTT data gaps during testing and deployment, enabling faster troubleshooting.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8919" y="4601617"/>
            <a:ext cx="81517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00794"/>
            <a:ext cx="5615806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Battery Monitoring &amp; Power Behavior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349" y="1021631"/>
            <a:ext cx="2393752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End-to-End Battery Pipeline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49" y="1318840"/>
            <a:ext cx="3975199" cy="1819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01152" y="2634212"/>
            <a:ext cx="746296" cy="287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Display Status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560614" y="2634212"/>
            <a:ext cx="746297" cy="287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Store &amp; Compute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625188" y="2634212"/>
            <a:ext cx="746296" cy="287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Send Payload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40715" y="2706095"/>
            <a:ext cx="974896" cy="143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Read Voltage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16214" y="1021631"/>
            <a:ext cx="18866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Example Result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16214" y="1318840"/>
            <a:ext cx="3975199" cy="637654"/>
          </a:xfrm>
          <a:prstGeom prst="roundRect">
            <a:avLst>
              <a:gd name="adj" fmla="val 2690"/>
            </a:avLst>
          </a:prstGeom>
          <a:solidFill>
            <a:srgbClr val="183A1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514" y="1485528"/>
            <a:ext cx="142875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87689" y="1452786"/>
            <a:ext cx="3489424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Battery Voltage: </a:t>
            </a:r>
            <a:r>
              <a:rPr lang="en-US" sz="9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3.84 V</a:t>
            </a:r>
            <a:endParaRPr lang="en-US" sz="9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Battery Status: </a:t>
            </a:r>
            <a:r>
              <a:rPr lang="en-US" sz="9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NORMAL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716214" y="2075036"/>
            <a:ext cx="3975199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sender reads battery voltage and includes it in each LoRa transmission. The Python backend converts voltage into a human-readable status.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716214" y="2545259"/>
            <a:ext cx="1934914" cy="721816"/>
          </a:xfrm>
          <a:prstGeom prst="roundRect">
            <a:avLst>
              <a:gd name="adj" fmla="val 237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44802" y="2673846"/>
            <a:ext cx="142942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🟢</a:t>
            </a: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NORMAL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4802" y="2962647"/>
            <a:ext cx="167773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Above safe threshold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756499" y="2545259"/>
            <a:ext cx="1934914" cy="721816"/>
          </a:xfrm>
          <a:prstGeom prst="roundRect">
            <a:avLst>
              <a:gd name="adj" fmla="val 237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85087" y="2673846"/>
            <a:ext cx="142942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🟡</a:t>
            </a: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LOW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885087" y="2962647"/>
            <a:ext cx="167773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Near depletion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716214" y="3372445"/>
            <a:ext cx="3975199" cy="721816"/>
          </a:xfrm>
          <a:prstGeom prst="roundRect">
            <a:avLst>
              <a:gd name="adj" fmla="val 237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44802" y="3501033"/>
            <a:ext cx="142942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🔴</a:t>
            </a: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CRITICAL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44802" y="3789834"/>
            <a:ext cx="3718024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Needs immediate attention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16214" y="4212803"/>
            <a:ext cx="4427786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supports the Week 4 power behavior observation requirement.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49" y="4602063"/>
            <a:ext cx="8229302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3125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Multi-Asset Support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204838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sender cycles through multiple asset IDs over time, simulating a realistic multi-asset deployment from a single device.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741289"/>
            <a:ext cx="1491555" cy="1409179"/>
          </a:xfrm>
          <a:prstGeom prst="roundRect">
            <a:avLst>
              <a:gd name="adj" fmla="val 1320"/>
            </a:avLst>
          </a:prstGeom>
          <a:solidFill>
            <a:srgbClr val="3A3B3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92" y="1865263"/>
            <a:ext cx="372070" cy="37207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412" y="1967508"/>
            <a:ext cx="167432" cy="1674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092" y="2361307"/>
            <a:ext cx="1243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ASSET-01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20092" y="2629570"/>
            <a:ext cx="1243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First tracked asset in the rotation cycle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2111648" y="1741289"/>
            <a:ext cx="1491630" cy="1409179"/>
          </a:xfrm>
          <a:prstGeom prst="roundRect">
            <a:avLst>
              <a:gd name="adj" fmla="val 1320"/>
            </a:avLst>
          </a:prstGeom>
          <a:solidFill>
            <a:srgbClr val="3A3B3C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5622" y="1865263"/>
            <a:ext cx="372070" cy="37207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37941" y="1967508"/>
            <a:ext cx="167432" cy="1674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235622" y="2361307"/>
            <a:ext cx="1243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ASSET-02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2235622" y="2629570"/>
            <a:ext cx="12436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Second tracked asset in the rotation cycle</a:t>
            </a:r>
            <a:endParaRPr lang="en-US" sz="950" dirty="0"/>
          </a:p>
        </p:txBody>
      </p:sp>
      <p:sp>
        <p:nvSpPr>
          <p:cNvPr id="15" name="Shape 8"/>
          <p:cNvSpPr/>
          <p:nvPr/>
        </p:nvSpPr>
        <p:spPr>
          <a:xfrm>
            <a:off x="3727252" y="1741289"/>
            <a:ext cx="1491630" cy="1409179"/>
          </a:xfrm>
          <a:prstGeom prst="roundRect">
            <a:avLst>
              <a:gd name="adj" fmla="val 1320"/>
            </a:avLst>
          </a:prstGeom>
          <a:solidFill>
            <a:srgbClr val="3A3B3C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1225" y="1865263"/>
            <a:ext cx="372070" cy="372070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3545" y="1967508"/>
            <a:ext cx="167432" cy="16743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851225" y="2361307"/>
            <a:ext cx="1243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ASSET-03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3851225" y="2629570"/>
            <a:ext cx="12436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Third tracked asset in the rotation cycle</a:t>
            </a:r>
            <a:endParaRPr lang="en-US" sz="950" dirty="0"/>
          </a:p>
        </p:txBody>
      </p:sp>
      <p:sp>
        <p:nvSpPr>
          <p:cNvPr id="20" name="Shape 11"/>
          <p:cNvSpPr/>
          <p:nvPr/>
        </p:nvSpPr>
        <p:spPr>
          <a:xfrm>
            <a:off x="496119" y="3289995"/>
            <a:ext cx="4722763" cy="923925"/>
          </a:xfrm>
          <a:prstGeom prst="roundRect">
            <a:avLst>
              <a:gd name="adj" fmla="val 2014"/>
            </a:avLst>
          </a:prstGeom>
          <a:solidFill>
            <a:srgbClr val="022349"/>
          </a:solidFill>
          <a:ln/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092" y="3474541"/>
            <a:ext cx="155004" cy="12397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99071" y="3444925"/>
            <a:ext cx="419583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is </a:t>
            </a:r>
            <a:r>
              <a:rPr lang="en-US" sz="9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more realistic than static simulation</a:t>
            </a: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one sender behaves like multiple assets over time. The dashboard dropdown lets operators select and monitor each asset independently.</a:t>
            </a:r>
            <a:endParaRPr lang="en-US" sz="950" dirty="0"/>
          </a:p>
        </p:txBody>
      </p:sp>
      <p:sp>
        <p:nvSpPr>
          <p:cNvPr id="23" name="Text 13"/>
          <p:cNvSpPr/>
          <p:nvPr/>
        </p:nvSpPr>
        <p:spPr>
          <a:xfrm>
            <a:off x="38919" y="4353446"/>
            <a:ext cx="47227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26157"/>
            <a:ext cx="3373487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Final Demo Scenario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349" y="894308"/>
            <a:ext cx="8686502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live demo shows the full end-to-end system in real-world conditions.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64856" y="1188690"/>
            <a:ext cx="14288" cy="3369543"/>
          </a:xfrm>
          <a:prstGeom prst="roundRect">
            <a:avLst>
              <a:gd name="adj" fmla="val 120054"/>
            </a:avLst>
          </a:prstGeom>
          <a:solidFill>
            <a:srgbClr val="535455"/>
          </a:solidFill>
          <a:ln/>
        </p:spPr>
      </p:sp>
      <p:sp>
        <p:nvSpPr>
          <p:cNvPr id="5" name="Shape 3"/>
          <p:cNvSpPr/>
          <p:nvPr/>
        </p:nvSpPr>
        <p:spPr>
          <a:xfrm>
            <a:off x="4114614" y="1310134"/>
            <a:ext cx="343049" cy="14288"/>
          </a:xfrm>
          <a:prstGeom prst="roundRect">
            <a:avLst>
              <a:gd name="adj" fmla="val 120054"/>
            </a:avLst>
          </a:prstGeom>
          <a:solidFill>
            <a:srgbClr val="535455"/>
          </a:solidFill>
          <a:ln/>
        </p:spPr>
      </p:sp>
      <p:sp>
        <p:nvSpPr>
          <p:cNvPr id="6" name="Shape 4"/>
          <p:cNvSpPr/>
          <p:nvPr/>
        </p:nvSpPr>
        <p:spPr>
          <a:xfrm>
            <a:off x="4443375" y="1188690"/>
            <a:ext cx="257249" cy="25724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7" name="Text 5"/>
          <p:cNvSpPr/>
          <p:nvPr/>
        </p:nvSpPr>
        <p:spPr>
          <a:xfrm>
            <a:off x="4486201" y="1210084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570857" y="1227981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Sender on Golf Car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349" y="1469901"/>
            <a:ext cx="354292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Device rides on a moving golf car, powered by battery or power bank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86337" y="1978298"/>
            <a:ext cx="343049" cy="14288"/>
          </a:xfrm>
          <a:prstGeom prst="roundRect">
            <a:avLst>
              <a:gd name="adj" fmla="val 120054"/>
            </a:avLst>
          </a:prstGeom>
          <a:solidFill>
            <a:srgbClr val="535455"/>
          </a:solidFill>
          <a:ln/>
        </p:spPr>
      </p:sp>
      <p:sp>
        <p:nvSpPr>
          <p:cNvPr id="11" name="Shape 9"/>
          <p:cNvSpPr/>
          <p:nvPr/>
        </p:nvSpPr>
        <p:spPr>
          <a:xfrm>
            <a:off x="4443375" y="1856854"/>
            <a:ext cx="257249" cy="25724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486201" y="1878248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43723" y="1896145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LoRa Transmission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43723" y="2138065"/>
            <a:ext cx="3542928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Sender broadcasts GPS payload wirelessly across the outdoor area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614" y="2560737"/>
            <a:ext cx="343049" cy="14288"/>
          </a:xfrm>
          <a:prstGeom prst="roundRect">
            <a:avLst>
              <a:gd name="adj" fmla="val 120054"/>
            </a:avLst>
          </a:prstGeom>
          <a:solidFill>
            <a:srgbClr val="53545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3375" y="2439293"/>
            <a:ext cx="257249" cy="25724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17" name="Text 15"/>
          <p:cNvSpPr/>
          <p:nvPr/>
        </p:nvSpPr>
        <p:spPr>
          <a:xfrm>
            <a:off x="4486201" y="2460687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570857" y="247858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Receiver in Hall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349" y="2720504"/>
            <a:ext cx="354292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Receiver stays in the presentation hall, connected to laptop and WiFi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86337" y="3143176"/>
            <a:ext cx="343049" cy="14288"/>
          </a:xfrm>
          <a:prstGeom prst="roundRect">
            <a:avLst>
              <a:gd name="adj" fmla="val 120054"/>
            </a:avLst>
          </a:prstGeom>
          <a:solidFill>
            <a:srgbClr val="535455"/>
          </a:solidFill>
          <a:ln/>
        </p:spPr>
      </p:sp>
      <p:sp>
        <p:nvSpPr>
          <p:cNvPr id="21" name="Shape 19"/>
          <p:cNvSpPr/>
          <p:nvPr/>
        </p:nvSpPr>
        <p:spPr>
          <a:xfrm>
            <a:off x="4443375" y="3021732"/>
            <a:ext cx="257249" cy="25724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22" name="Text 20"/>
          <p:cNvSpPr/>
          <p:nvPr/>
        </p:nvSpPr>
        <p:spPr>
          <a:xfrm>
            <a:off x="4486201" y="3043126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143723" y="3061022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MQTT → Firebase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43723" y="3302943"/>
            <a:ext cx="3542928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uploads parsed data to Firebase in real time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614" y="3725614"/>
            <a:ext cx="343049" cy="14288"/>
          </a:xfrm>
          <a:prstGeom prst="roundRect">
            <a:avLst>
              <a:gd name="adj" fmla="val 120054"/>
            </a:avLst>
          </a:prstGeom>
          <a:solidFill>
            <a:srgbClr val="535455"/>
          </a:solidFill>
          <a:ln/>
        </p:spPr>
      </p:sp>
      <p:sp>
        <p:nvSpPr>
          <p:cNvPr id="26" name="Shape 24"/>
          <p:cNvSpPr/>
          <p:nvPr/>
        </p:nvSpPr>
        <p:spPr>
          <a:xfrm>
            <a:off x="4443375" y="3604171"/>
            <a:ext cx="257249" cy="25724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27" name="Text 25"/>
          <p:cNvSpPr/>
          <p:nvPr/>
        </p:nvSpPr>
        <p:spPr>
          <a:xfrm>
            <a:off x="4486201" y="3625565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570857" y="3643461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349" y="3885381"/>
            <a:ext cx="3542928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shows movement, trail, battery, and health status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9" y="4676775"/>
            <a:ext cx="8229302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9861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Testing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4543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Screenshots and outputs confirm successful end-to-end testing with ASSET-03.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83420"/>
            <a:ext cx="4013895" cy="946472"/>
          </a:xfrm>
          <a:prstGeom prst="roundRect">
            <a:avLst>
              <a:gd name="adj" fmla="val 724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31" y="1883420"/>
            <a:ext cx="57150" cy="946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7242" y="2021681"/>
            <a:ext cx="222446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Dashboard — ASSET-03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7242" y="2289944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showed live marker,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3.84 V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NORMAL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history trail, and active transmission health.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33987" y="1883420"/>
            <a:ext cx="4013895" cy="946472"/>
          </a:xfrm>
          <a:prstGeom prst="roundRect">
            <a:avLst>
              <a:gd name="adj" fmla="val 724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99" y="1883420"/>
            <a:ext cx="57150" cy="946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15111" y="2021681"/>
            <a:ext cx="27879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Firebase — Latest &amp; History Updated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15111" y="2289944"/>
            <a:ext cx="369450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Realtime Database updated both </a:t>
            </a:r>
            <a:r>
              <a:rPr lang="en-US" sz="9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latest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and </a:t>
            </a:r>
            <a:r>
              <a:rPr lang="en-US" sz="9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on every packet.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96119" y="2953866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31" y="2953866"/>
            <a:ext cx="57150" cy="9417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7242" y="3092128"/>
            <a:ext cx="176554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Receiver Serial Monitor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77242" y="3360390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Serial output confirmed LoRa reception, parsing, and MQTT publishing with correct RSSI and packet count.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633987" y="2953866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99" y="2953866"/>
            <a:ext cx="57150" cy="9417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15111" y="3092128"/>
            <a:ext cx="2082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Backend Upload Confirmed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815111" y="3360390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logs confirmed MQTT subscription, validation, and Firebase upload for each packet.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38919" y="4035103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976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333351"/>
            <a:ext cx="4103191" cy="2751981"/>
          </a:xfrm>
          <a:prstGeom prst="roundRect">
            <a:avLst>
              <a:gd name="adj" fmla="val 676"/>
            </a:avLst>
          </a:prstGeom>
          <a:solidFill>
            <a:srgbClr val="EEE27D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45732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Known Constraints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796" y="1790700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304" y="1837172"/>
            <a:ext cx="186035" cy="186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3822" y="1833339"/>
            <a:ext cx="14470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GPS Indoor Fix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3822" y="2151162"/>
            <a:ext cx="144705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GPS may be weak or unavailable indoors due to signal obstruction.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35882" y="1790700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2391" y="1837172"/>
            <a:ext cx="186035" cy="1860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38909" y="1833339"/>
            <a:ext cx="144713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Public MQTT Broker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938909" y="2345010"/>
            <a:ext cx="144713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Testing uses a public broker, which is not suitable for secure production.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28046" y="1457325"/>
            <a:ext cx="20613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Technical Limitations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28046" y="1790700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4555" y="1837172"/>
            <a:ext cx="186035" cy="1860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31073" y="1833339"/>
            <a:ext cx="14817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Battery Voltage Accuracy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131073" y="2345010"/>
            <a:ext cx="14817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Voltage is an ADC approximation, not a direct current measurement.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767810" y="1790700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4319" y="1837172"/>
            <a:ext cx="186035" cy="1860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0837" y="1833339"/>
            <a:ext cx="148180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Multi-Asset Switching Gaps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170837" y="2345010"/>
            <a:ext cx="148180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Brief transmission gaps may appear during asset ID switching.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728046" y="3386882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74555" y="3433353"/>
            <a:ext cx="186035" cy="18603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31073" y="3429521"/>
            <a:ext cx="162698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LoRa Range Variables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131073" y="3747343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Range depends on antenna quality, distance, and obstacles.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38919" y="4224858"/>
            <a:ext cx="81517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1086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8665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These peer-reviewed papers informed the design and implementation of this IoT asset tracking system: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10680"/>
            <a:ext cx="2634555" cy="1783333"/>
          </a:xfrm>
          <a:prstGeom prst="roundRect">
            <a:avLst>
              <a:gd name="adj" fmla="val 384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96393"/>
            <a:ext cx="2634555" cy="5715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361" y="1924645"/>
            <a:ext cx="372070" cy="3720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8982" y="201766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34380" y="242076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Johnsen et al.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34380" y="2689027"/>
            <a:ext cx="2358033" cy="86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MQTT over LoRa for Tracking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Explored MQTT over LoRa for asset tracking and established the communication pattern used here.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54648" y="2110680"/>
            <a:ext cx="2634630" cy="1783333"/>
          </a:xfrm>
          <a:prstGeom prst="roundRect">
            <a:avLst>
              <a:gd name="adj" fmla="val 384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096393"/>
            <a:ext cx="2634630" cy="5715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890" y="1924645"/>
            <a:ext cx="372070" cy="3720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97512" y="201766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3392909" y="242076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Wijayapraja et al.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392909" y="2689027"/>
            <a:ext cx="2358107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IoT-LoRaWAN Ambulance Tracking with Firebase/MQTT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Showed a LoRaWAN tracking system with Firebase and MQTT, closely matching this architecture.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6013252" y="2110680"/>
            <a:ext cx="2634555" cy="1783333"/>
          </a:xfrm>
          <a:prstGeom prst="roundRect">
            <a:avLst>
              <a:gd name="adj" fmla="val 384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096393"/>
            <a:ext cx="2634555" cy="5715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494" y="1924645"/>
            <a:ext cx="372070" cy="37207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256115" y="201766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6151513" y="242076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Muladi et al.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6151513" y="2689027"/>
            <a:ext cx="235803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LoRa Mesh GPS Tracking for Outdoor Safety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Examined LoRa mesh GPS tracking and offered insights on range, reliability, and multi-node deployment.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38919" y="4033540"/>
            <a:ext cx="81517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58453"/>
            <a:ext cx="350988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8379" y="980331"/>
            <a:ext cx="86244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built a complete IoT asset tracking system, from hardware to dashboard.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88379" y="1309390"/>
            <a:ext cx="2642295" cy="894606"/>
          </a:xfrm>
          <a:prstGeom prst="roundRect">
            <a:avLst>
              <a:gd name="adj" fmla="val 32759"/>
            </a:avLst>
          </a:prstGeom>
          <a:solidFill>
            <a:srgbClr val="3A3B3C"/>
          </a:solidFill>
          <a:ln/>
        </p:spPr>
      </p:sp>
      <p:sp>
        <p:nvSpPr>
          <p:cNvPr id="5" name="Text 3"/>
          <p:cNvSpPr/>
          <p:nvPr/>
        </p:nvSpPr>
        <p:spPr>
          <a:xfrm>
            <a:off x="610419" y="1431429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GPS + LoRa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0419" y="1694259"/>
            <a:ext cx="239821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Long-range, low-power field communication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0853" y="1309390"/>
            <a:ext cx="2642295" cy="894606"/>
          </a:xfrm>
          <a:prstGeom prst="roundRect">
            <a:avLst>
              <a:gd name="adj" fmla="val 32759"/>
            </a:avLst>
          </a:prstGeom>
          <a:solidFill>
            <a:srgbClr val="3A3B3C"/>
          </a:solidFill>
          <a:ln/>
        </p:spPr>
      </p:sp>
      <p:sp>
        <p:nvSpPr>
          <p:cNvPr id="8" name="Text 6"/>
          <p:cNvSpPr/>
          <p:nvPr/>
        </p:nvSpPr>
        <p:spPr>
          <a:xfrm>
            <a:off x="3372892" y="1431429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MQTT + Firebase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72892" y="1694259"/>
            <a:ext cx="239821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Reliable cloud backend with real-time sync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326" y="1309390"/>
            <a:ext cx="2642295" cy="894606"/>
          </a:xfrm>
          <a:prstGeom prst="roundRect">
            <a:avLst>
              <a:gd name="adj" fmla="val 32759"/>
            </a:avLst>
          </a:prstGeom>
          <a:solidFill>
            <a:srgbClr val="3A3B3C"/>
          </a:solidFill>
          <a:ln/>
        </p:spPr>
      </p:sp>
      <p:sp>
        <p:nvSpPr>
          <p:cNvPr id="11" name="Text 9"/>
          <p:cNvSpPr/>
          <p:nvPr/>
        </p:nvSpPr>
        <p:spPr>
          <a:xfrm>
            <a:off x="6135365" y="1431429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Location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35365" y="1694259"/>
            <a:ext cx="23982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marker on map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8379" y="2324174"/>
            <a:ext cx="2642295" cy="700757"/>
          </a:xfrm>
          <a:prstGeom prst="roundRect">
            <a:avLst>
              <a:gd name="adj" fmla="val 41820"/>
            </a:avLst>
          </a:prstGeom>
          <a:solidFill>
            <a:srgbClr val="3A3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10419" y="2446213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History Trail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0419" y="2709044"/>
            <a:ext cx="23982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Movement path visualization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50853" y="2324174"/>
            <a:ext cx="2642295" cy="700757"/>
          </a:xfrm>
          <a:prstGeom prst="roundRect">
            <a:avLst>
              <a:gd name="adj" fmla="val 41820"/>
            </a:avLst>
          </a:prstGeom>
          <a:solidFill>
            <a:srgbClr val="3A3B3C"/>
          </a:solidFill>
          <a:ln/>
        </p:spPr>
      </p:sp>
      <p:sp>
        <p:nvSpPr>
          <p:cNvPr id="17" name="Text 15"/>
          <p:cNvSpPr/>
          <p:nvPr/>
        </p:nvSpPr>
        <p:spPr>
          <a:xfrm>
            <a:off x="3372892" y="2446213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Geofence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72892" y="2709044"/>
            <a:ext cx="23982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Inside/outside alerts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13326" y="2324174"/>
            <a:ext cx="2642295" cy="700757"/>
          </a:xfrm>
          <a:prstGeom prst="roundRect">
            <a:avLst>
              <a:gd name="adj" fmla="val 41820"/>
            </a:avLst>
          </a:prstGeom>
          <a:solidFill>
            <a:srgbClr val="3A3B3C"/>
          </a:solidFill>
          <a:ln/>
        </p:spPr>
      </p:sp>
      <p:sp>
        <p:nvSpPr>
          <p:cNvPr id="20" name="Text 18"/>
          <p:cNvSpPr/>
          <p:nvPr/>
        </p:nvSpPr>
        <p:spPr>
          <a:xfrm>
            <a:off x="6135365" y="2446213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Multi-Asset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35365" y="2709044"/>
            <a:ext cx="23982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Switchable asset IDs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8379" y="3145110"/>
            <a:ext cx="4023494" cy="700757"/>
          </a:xfrm>
          <a:prstGeom prst="roundRect">
            <a:avLst>
              <a:gd name="adj" fmla="val 41820"/>
            </a:avLst>
          </a:prstGeom>
          <a:solidFill>
            <a:srgbClr val="3A3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10419" y="3267149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Battery Monitor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0419" y="3529980"/>
            <a:ext cx="3779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Voltage status classification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32052" y="3145110"/>
            <a:ext cx="4023568" cy="700757"/>
          </a:xfrm>
          <a:prstGeom prst="roundRect">
            <a:avLst>
              <a:gd name="adj" fmla="val 41820"/>
            </a:avLst>
          </a:prstGeom>
          <a:solidFill>
            <a:srgbClr val="3A3B3C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091" y="3267149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TX Health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091" y="3529980"/>
            <a:ext cx="37794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Packet gap detection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8379" y="3981078"/>
            <a:ext cx="8167241" cy="513680"/>
          </a:xfrm>
          <a:prstGeom prst="roundRect">
            <a:avLst>
              <a:gd name="adj" fmla="val 3566"/>
            </a:avLst>
          </a:prstGeom>
          <a:solidFill>
            <a:srgbClr val="183A13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19" y="4164955"/>
            <a:ext cx="152623" cy="122039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85081" y="4131766"/>
            <a:ext cx="810570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demonstrated the system live with a GPS sender on a moving golf car, proving the full IoT pipeline works in the real world.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1179" y="4629969"/>
            <a:ext cx="8167241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7019" y="337989"/>
            <a:ext cx="328128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37036" y="899740"/>
            <a:ext cx="4441329" cy="52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00" dirty="0">
                <a:solidFill>
                  <a:srgbClr val="EEE27D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IoT Innovators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59779" y="1606525"/>
            <a:ext cx="83958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 for your time. We’re happy to answer questions about our design, implementation, or results.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88379" y="1935584"/>
            <a:ext cx="2642295" cy="366266"/>
          </a:xfrm>
          <a:prstGeom prst="roundRect">
            <a:avLst>
              <a:gd name="adj" fmla="val 480076"/>
            </a:avLst>
          </a:prstGeom>
          <a:solidFill>
            <a:srgbClr val="3A3B3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7923" y="2027113"/>
            <a:ext cx="183133" cy="183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0419" y="2422029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Adam Amr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0419" y="2684859"/>
            <a:ext cx="23982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55-4111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50853" y="1935584"/>
            <a:ext cx="2642295" cy="366266"/>
          </a:xfrm>
          <a:prstGeom prst="roundRect">
            <a:avLst>
              <a:gd name="adj" fmla="val 480076"/>
            </a:avLst>
          </a:prstGeom>
          <a:solidFill>
            <a:srgbClr val="3A3B3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0396" y="2027113"/>
            <a:ext cx="183133" cy="1831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2892" y="2422029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Kareem Emad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72892" y="2684859"/>
            <a:ext cx="23982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55-4357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13326" y="1935584"/>
            <a:ext cx="2642295" cy="366266"/>
          </a:xfrm>
          <a:prstGeom prst="roundRect">
            <a:avLst>
              <a:gd name="adj" fmla="val 480076"/>
            </a:avLst>
          </a:prstGeom>
          <a:solidFill>
            <a:srgbClr val="3A3B3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2870" y="2027113"/>
            <a:ext cx="183133" cy="1831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35365" y="2422029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George Ehab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135365" y="2684859"/>
            <a:ext cx="23982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55-25881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88379" y="3120926"/>
            <a:ext cx="2642295" cy="366266"/>
          </a:xfrm>
          <a:prstGeom prst="roundRect">
            <a:avLst>
              <a:gd name="adj" fmla="val 480076"/>
            </a:avLst>
          </a:prstGeom>
          <a:solidFill>
            <a:srgbClr val="3A3B3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7923" y="3212455"/>
            <a:ext cx="183133" cy="18313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0419" y="3607371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Farah Khaled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10419" y="3870201"/>
            <a:ext cx="23982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55-5083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50853" y="3120926"/>
            <a:ext cx="2642295" cy="366266"/>
          </a:xfrm>
          <a:prstGeom prst="roundRect">
            <a:avLst>
              <a:gd name="adj" fmla="val 480076"/>
            </a:avLst>
          </a:prstGeom>
          <a:solidFill>
            <a:srgbClr val="3A3B3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0396" y="3212455"/>
            <a:ext cx="183133" cy="18313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372892" y="3607371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Rahma Mohamed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372892" y="3870201"/>
            <a:ext cx="23982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55-23548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259779" y="4321299"/>
            <a:ext cx="83958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NETW1010 — Internet of Things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 |  Dr. Tallal El Shabrawy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31179" y="4650358"/>
            <a:ext cx="8167241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1595</Words>
  <Application>Microsoft Office PowerPoint</Application>
  <PresentationFormat>On-screen Show (16:9)</PresentationFormat>
  <Paragraphs>320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Raleway</vt:lpstr>
      <vt:lpstr>Arial</vt:lpstr>
      <vt:lpstr>Consolas</vt:lpstr>
      <vt:lpstr>Prata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Adam Amr Mongy</cp:lastModifiedBy>
  <cp:revision>3</cp:revision>
  <dcterms:created xsi:type="dcterms:W3CDTF">2026-05-25T17:58:06Z</dcterms:created>
  <dcterms:modified xsi:type="dcterms:W3CDTF">2026-05-25T18:02:02Z</dcterms:modified>
</cp:coreProperties>
</file>